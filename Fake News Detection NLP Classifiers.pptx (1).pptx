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Gagalin" charset="1" panose="00000500000000000000"/>
      <p:regular r:id="rId26"/>
    </p:embeddedFont>
    <p:embeddedFont>
      <p:font typeface="Georgia Pro" charset="1" panose="02040502050405020303"/>
      <p:regular r:id="rId27"/>
    </p:embeddedFont>
    <p:embeddedFont>
      <p:font typeface="Arial Bold" charset="1" panose="020B0704020202020204"/>
      <p:regular r:id="rId29"/>
    </p:embeddedFont>
    <p:embeddedFont>
      <p:font typeface="Arial" charset="1" panose="020B0604020202020204"/>
      <p:regular r:id="rId30"/>
    </p:embeddedFont>
    <p:embeddedFont>
      <p:font typeface="Old Standard Bold" charset="1" panose="02040503050505020303"/>
      <p:regular r:id="rId37"/>
    </p:embeddedFont>
    <p:embeddedFont>
      <p:font typeface="Arial Italics" charset="1" panose="020B0604020202090204"/>
      <p:regular r:id="rId39"/>
    </p:embeddedFont>
    <p:embeddedFont>
      <p:font typeface="Georgia Bold" charset="1" panose="02040802050405020203"/>
      <p:regular r:id="rId42"/>
    </p:embeddedFont>
    <p:embeddedFont>
      <p:font typeface="Georgia" charset="1" panose="02040502050405020303"/>
      <p:regular r:id="rId43"/>
    </p:embeddedFont>
    <p:embeddedFont>
      <p:font typeface="Georgia Italics" charset="1" panose="02040502050405090303"/>
      <p:regular r:id="rId47"/>
    </p:embeddedFont>
    <p:embeddedFont>
      <p:font typeface="Georgia Bold Italics" charset="1" panose="02040802050405090203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fonts/font37.fntdata" Type="http://schemas.openxmlformats.org/officeDocument/2006/relationships/font"/><Relationship Id="rId38" Target="notesSlides/notesSlide9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notesSlides/notesSlide12.xml" Type="http://schemas.openxmlformats.org/officeDocument/2006/relationships/notesSlide"/><Relationship Id="rId45" Target="notesSlides/notesSlide13.xml" Type="http://schemas.openxmlformats.org/officeDocument/2006/relationships/notesSlide"/><Relationship Id="rId46" Target="notesSlides/notesSlide14.xml" Type="http://schemas.openxmlformats.org/officeDocument/2006/relationships/notesSlide"/><Relationship Id="rId47" Target="fonts/font47.fntdata" Type="http://schemas.openxmlformats.org/officeDocument/2006/relationships/font"/><Relationship Id="rId48" Target="notesSlides/notesSlide15.xml" Type="http://schemas.openxmlformats.org/officeDocument/2006/relationships/notesSlide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notesSlides/notesSlide16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1.jpeg" Type="http://schemas.openxmlformats.org/officeDocument/2006/relationships/image"/><Relationship Id="rId8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1.jpeg" Type="http://schemas.openxmlformats.org/officeDocument/2006/relationships/image"/><Relationship Id="rId8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1.jpe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.png" Type="http://schemas.openxmlformats.org/officeDocument/2006/relationships/image"/><Relationship Id="rId4" Target="../media/image1.jpe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.png" Type="http://schemas.openxmlformats.org/officeDocument/2006/relationships/image"/><Relationship Id="rId4" Target="../media/image24.png" Type="http://schemas.openxmlformats.org/officeDocument/2006/relationships/image"/><Relationship Id="rId5" Target="../media/image1.jpe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1.jpe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38.pn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3.png" Type="http://schemas.openxmlformats.org/officeDocument/2006/relationships/image"/><Relationship Id="rId4" Target="../media/image31.png" Type="http://schemas.openxmlformats.org/officeDocument/2006/relationships/image"/><Relationship Id="rId5" Target="../media/image1.jpe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png" Type="http://schemas.openxmlformats.org/officeDocument/2006/relationships/image"/><Relationship Id="rId12" Target="../media/image47.pn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Relationship Id="rId7" Target="../media/image1.jpeg" Type="http://schemas.openxmlformats.org/officeDocument/2006/relationships/image"/><Relationship Id="rId8" Target="../media/image43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39.png" Type="http://schemas.openxmlformats.org/officeDocument/2006/relationships/image"/><Relationship Id="rId4" Target="../media/image48.png" Type="http://schemas.openxmlformats.org/officeDocument/2006/relationships/image"/><Relationship Id="rId5" Target="../media/image49.pn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Relationship Id="rId8" Target="../media/image1.jpe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1.jpeg" Type="http://schemas.openxmlformats.org/officeDocument/2006/relationships/image"/><Relationship Id="rId12" Target="../media/image58.png" Type="http://schemas.openxmlformats.org/officeDocument/2006/relationships/image"/><Relationship Id="rId13" Target="../media/image59.png" Type="http://schemas.openxmlformats.org/officeDocument/2006/relationships/image"/><Relationship Id="rId2" Target="../notesSlides/notesSlide13.xml" Type="http://schemas.openxmlformats.org/officeDocument/2006/relationships/notesSlid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53.png" Type="http://schemas.openxmlformats.org/officeDocument/2006/relationships/image"/><Relationship Id="rId6" Target="../media/image54.png" Type="http://schemas.openxmlformats.org/officeDocument/2006/relationships/image"/><Relationship Id="rId7" Target="../media/image49.png" Type="http://schemas.openxmlformats.org/officeDocument/2006/relationships/image"/><Relationship Id="rId8" Target="../media/image55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jpeg" Type="http://schemas.openxmlformats.org/officeDocument/2006/relationships/image"/><Relationship Id="rId11" Target="../media/image65.png" Type="http://schemas.openxmlformats.org/officeDocument/2006/relationships/image"/><Relationship Id="rId12" Target="../media/image66.png" Type="http://schemas.openxmlformats.org/officeDocument/2006/relationships/image"/><Relationship Id="rId2" Target="../notesSlides/notesSlide14.xml" Type="http://schemas.openxmlformats.org/officeDocument/2006/relationships/notesSlid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60.png" Type="http://schemas.openxmlformats.org/officeDocument/2006/relationships/image"/><Relationship Id="rId6" Target="../media/image61.png" Type="http://schemas.openxmlformats.org/officeDocument/2006/relationships/image"/><Relationship Id="rId7" Target="../media/image62.png" Type="http://schemas.openxmlformats.org/officeDocument/2006/relationships/image"/><Relationship Id="rId8" Target="../media/image63.pn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0.png" Type="http://schemas.openxmlformats.org/officeDocument/2006/relationships/image"/><Relationship Id="rId2" Target="../notesSlides/notesSlide15.xml" Type="http://schemas.openxmlformats.org/officeDocument/2006/relationships/notesSlid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9.png" Type="http://schemas.openxmlformats.org/officeDocument/2006/relationships/image"/><Relationship Id="rId6" Target="../media/image67.png" Type="http://schemas.openxmlformats.org/officeDocument/2006/relationships/image"/><Relationship Id="rId7" Target="../media/image68.png" Type="http://schemas.openxmlformats.org/officeDocument/2006/relationships/image"/><Relationship Id="rId8" Target="../media/image69.png" Type="http://schemas.openxmlformats.org/officeDocument/2006/relationships/image"/><Relationship Id="rId9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39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E4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8598" y="676186"/>
            <a:ext cx="15090805" cy="6629400"/>
            <a:chOff x="0" y="0"/>
            <a:chExt cx="20121073" cy="883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21073" cy="8839200"/>
            </a:xfrm>
            <a:custGeom>
              <a:avLst/>
              <a:gdLst/>
              <a:ahLst/>
              <a:cxnLst/>
              <a:rect r="r" b="b" t="t" l="l"/>
              <a:pathLst>
                <a:path h="8839200" w="20121073">
                  <a:moveTo>
                    <a:pt x="0" y="0"/>
                  </a:moveTo>
                  <a:lnTo>
                    <a:pt x="20121073" y="0"/>
                  </a:lnTo>
                  <a:lnTo>
                    <a:pt x="20121073" y="8839200"/>
                  </a:lnTo>
                  <a:lnTo>
                    <a:pt x="0" y="883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327" t="0" r="1599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0121073" cy="884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700"/>
                </a:lnSpc>
              </a:pPr>
              <a:r>
                <a:rPr lang="en-US" sz="9750">
                  <a:solidFill>
                    <a:srgbClr val="DA7756"/>
                  </a:solidFill>
                  <a:latin typeface="Gagalin"/>
                  <a:ea typeface="Gagalin"/>
                  <a:cs typeface="Gagalin"/>
                  <a:sym typeface="Gagalin"/>
                </a:rPr>
                <a:t>Fake News Detection Using NLP Classifiers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905326" y="7296061"/>
            <a:ext cx="5021614" cy="139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1"/>
              </a:lnSpc>
              <a:spcBef>
                <a:spcPct val="0"/>
              </a:spcBef>
            </a:pPr>
            <a:r>
              <a:rPr lang="en-US" sz="3076">
                <a:solidFill>
                  <a:srgbClr val="DA7756"/>
                </a:solidFill>
                <a:latin typeface="Georgia Pro"/>
                <a:ea typeface="Georgia Pro"/>
                <a:cs typeface="Georgia Pro"/>
                <a:sym typeface="Georgia Pro"/>
              </a:rPr>
              <a:t>YADHU KRISHNAN V B</a:t>
            </a:r>
          </a:p>
          <a:p>
            <a:pPr algn="ctr">
              <a:lnSpc>
                <a:spcPts val="3691"/>
              </a:lnSpc>
              <a:spcBef>
                <a:spcPct val="0"/>
              </a:spcBef>
            </a:pPr>
            <a:r>
              <a:rPr lang="en-US" sz="3076">
                <a:solidFill>
                  <a:srgbClr val="DA7756"/>
                </a:solidFill>
                <a:latin typeface="Georgia Pro"/>
                <a:ea typeface="Georgia Pro"/>
                <a:cs typeface="Georgia Pro"/>
                <a:sym typeface="Georgia Pro"/>
              </a:rPr>
              <a:t>ANGEL TREESA JOHN</a:t>
            </a:r>
          </a:p>
          <a:p>
            <a:pPr algn="ctr">
              <a:lnSpc>
                <a:spcPts val="3691"/>
              </a:lnSpc>
              <a:spcBef>
                <a:spcPct val="0"/>
              </a:spcBef>
            </a:pPr>
            <a:r>
              <a:rPr lang="en-US" sz="3076">
                <a:solidFill>
                  <a:srgbClr val="DA7756"/>
                </a:solidFill>
                <a:latin typeface="Georgia Pro"/>
                <a:ea typeface="Georgia Pro"/>
                <a:cs typeface="Georgia Pro"/>
                <a:sym typeface="Georgia Pro"/>
              </a:rPr>
              <a:t>ANAGHA 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85962" y="2700338"/>
            <a:ext cx="200025" cy="214312"/>
            <a:chOff x="0" y="0"/>
            <a:chExt cx="266700" cy="28575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66700" cy="285750"/>
            </a:xfrm>
            <a:custGeom>
              <a:avLst/>
              <a:gdLst/>
              <a:ahLst/>
              <a:cxnLst/>
              <a:rect r="r" b="b" t="t" l="l"/>
              <a:pathLst>
                <a:path h="28575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85962" y="3943350"/>
            <a:ext cx="200025" cy="214312"/>
            <a:chOff x="0" y="0"/>
            <a:chExt cx="266700" cy="28575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66700" cy="285750"/>
            </a:xfrm>
            <a:custGeom>
              <a:avLst/>
              <a:gdLst/>
              <a:ahLst/>
              <a:cxnLst/>
              <a:rect r="r" b="b" t="t" l="l"/>
              <a:pathLst>
                <a:path h="28575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985962" y="5200650"/>
            <a:ext cx="200025" cy="214312"/>
            <a:chOff x="0" y="0"/>
            <a:chExt cx="266700" cy="28575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266700" cy="285750"/>
            </a:xfrm>
            <a:custGeom>
              <a:avLst/>
              <a:gdLst/>
              <a:ahLst/>
              <a:cxnLst/>
              <a:rect r="r" b="b" t="t" l="l"/>
              <a:pathLst>
                <a:path h="28575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985962" y="6829425"/>
            <a:ext cx="14316075" cy="1285875"/>
            <a:chOff x="0" y="0"/>
            <a:chExt cx="19088100" cy="171450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90881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19088100">
                  <a:moveTo>
                    <a:pt x="0" y="0"/>
                  </a:moveTo>
                  <a:lnTo>
                    <a:pt x="19088100" y="0"/>
                  </a:lnTo>
                  <a:lnTo>
                    <a:pt x="19088100" y="1714500"/>
                  </a:lnTo>
                  <a:lnTo>
                    <a:pt x="0" y="1714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DED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55370" y="641469"/>
            <a:ext cx="3204310" cy="1379930"/>
            <a:chOff x="0" y="0"/>
            <a:chExt cx="2725039" cy="11735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25042" cy="1173533"/>
            </a:xfrm>
            <a:custGeom>
              <a:avLst/>
              <a:gdLst/>
              <a:ahLst/>
              <a:cxnLst/>
              <a:rect r="r" b="b" t="t" l="l"/>
              <a:pathLst>
                <a:path h="1173533" w="2725042">
                  <a:moveTo>
                    <a:pt x="0" y="0"/>
                  </a:moveTo>
                  <a:lnTo>
                    <a:pt x="2725042" y="0"/>
                  </a:lnTo>
                  <a:lnTo>
                    <a:pt x="2725042" y="1173533"/>
                  </a:lnTo>
                  <a:lnTo>
                    <a:pt x="0" y="117353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19" r="0" b="3202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725039" cy="1192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INTRODUCTION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514600" y="2421449"/>
            <a:ext cx="12729160" cy="861323"/>
            <a:chOff x="0" y="0"/>
            <a:chExt cx="15616238" cy="10566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616238" cy="1056680"/>
            </a:xfrm>
            <a:custGeom>
              <a:avLst/>
              <a:gdLst/>
              <a:ahLst/>
              <a:cxnLst/>
              <a:rect r="r" b="b" t="t" l="l"/>
              <a:pathLst>
                <a:path h="1056680" w="15616238">
                  <a:moveTo>
                    <a:pt x="0" y="0"/>
                  </a:moveTo>
                  <a:lnTo>
                    <a:pt x="15616238" y="0"/>
                  </a:lnTo>
                  <a:lnTo>
                    <a:pt x="15616238" y="1056680"/>
                  </a:lnTo>
                  <a:lnTo>
                    <a:pt x="0" y="10566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7961" r="0" b="-23796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5616238" cy="1085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>
                  <a:solidFill>
                    <a:srgbClr val="101828"/>
                  </a:solidFill>
                  <a:latin typeface="Arial"/>
                  <a:ea typeface="Arial"/>
                  <a:cs typeface="Arial"/>
                  <a:sym typeface="Arial"/>
                </a:rPr>
                <a:t>Fake news spreads rapidly through social media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514600" y="3680670"/>
            <a:ext cx="11971328" cy="851820"/>
            <a:chOff x="0" y="0"/>
            <a:chExt cx="14850364" cy="10566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850368" cy="1056680"/>
            </a:xfrm>
            <a:custGeom>
              <a:avLst/>
              <a:gdLst/>
              <a:ahLst/>
              <a:cxnLst/>
              <a:rect r="r" b="b" t="t" l="l"/>
              <a:pathLst>
                <a:path h="1056680" w="14850368">
                  <a:moveTo>
                    <a:pt x="0" y="0"/>
                  </a:moveTo>
                  <a:lnTo>
                    <a:pt x="14850368" y="0"/>
                  </a:lnTo>
                  <a:lnTo>
                    <a:pt x="14850368" y="1056680"/>
                  </a:lnTo>
                  <a:lnTo>
                    <a:pt x="0" y="10566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3838" r="0" b="-22383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4850364" cy="1085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>
                  <a:solidFill>
                    <a:srgbClr val="101828"/>
                  </a:solidFill>
                  <a:latin typeface="Arial"/>
                  <a:ea typeface="Arial"/>
                  <a:cs typeface="Arial"/>
                  <a:sym typeface="Arial"/>
                </a:rPr>
                <a:t>Misleads public opinion and decision-making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514600" y="4989681"/>
            <a:ext cx="6741471" cy="792509"/>
            <a:chOff x="0" y="0"/>
            <a:chExt cx="8988628" cy="10566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988624" cy="1056680"/>
            </a:xfrm>
            <a:custGeom>
              <a:avLst/>
              <a:gdLst/>
              <a:ahLst/>
              <a:cxnLst/>
              <a:rect r="r" b="b" t="t" l="l"/>
              <a:pathLst>
                <a:path h="1056680" w="8988624">
                  <a:moveTo>
                    <a:pt x="0" y="0"/>
                  </a:moveTo>
                  <a:lnTo>
                    <a:pt x="8988624" y="0"/>
                  </a:lnTo>
                  <a:lnTo>
                    <a:pt x="8988624" y="1056680"/>
                  </a:lnTo>
                  <a:lnTo>
                    <a:pt x="0" y="10566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5749" r="0" b="-11574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8988628" cy="1085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>
                  <a:solidFill>
                    <a:srgbClr val="101828"/>
                  </a:solidFill>
                  <a:latin typeface="Arial"/>
                  <a:ea typeface="Arial"/>
                  <a:cs typeface="Arial"/>
                  <a:sym typeface="Arial"/>
                </a:rPr>
                <a:t>Difficult to detect manually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386012" y="7243762"/>
            <a:ext cx="400050" cy="471488"/>
            <a:chOff x="0" y="0"/>
            <a:chExt cx="533400" cy="62865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533400" cy="628650"/>
            </a:xfrm>
            <a:custGeom>
              <a:avLst/>
              <a:gdLst/>
              <a:ahLst/>
              <a:cxnLst/>
              <a:rect r="r" b="b" t="t" l="l"/>
              <a:pathLst>
                <a:path h="62865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628650"/>
                  </a:lnTo>
                  <a:lnTo>
                    <a:pt x="0" y="628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057525" y="7196661"/>
            <a:ext cx="9225258" cy="557212"/>
            <a:chOff x="0" y="0"/>
            <a:chExt cx="12300344" cy="7429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300346" cy="742950"/>
            </a:xfrm>
            <a:custGeom>
              <a:avLst/>
              <a:gdLst/>
              <a:ahLst/>
              <a:cxnLst/>
              <a:rect r="r" b="b" t="t" l="l"/>
              <a:pathLst>
                <a:path h="742950" w="12300346">
                  <a:moveTo>
                    <a:pt x="0" y="0"/>
                  </a:moveTo>
                  <a:lnTo>
                    <a:pt x="12300346" y="0"/>
                  </a:lnTo>
                  <a:lnTo>
                    <a:pt x="12300346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2595" r="0" b="-27259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2300344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2FA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Need for automated fake news detection systems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71538" y="5372100"/>
            <a:ext cx="142875" cy="157162"/>
            <a:chOff x="0" y="0"/>
            <a:chExt cx="190500" cy="20955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90500" cy="209550"/>
            </a:xfrm>
            <a:custGeom>
              <a:avLst/>
              <a:gdLst/>
              <a:ahLst/>
              <a:cxnLst/>
              <a:rect r="r" b="b" t="t" l="l"/>
              <a:pathLst>
                <a:path h="2095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71538" y="6157912"/>
            <a:ext cx="142875" cy="157162"/>
            <a:chOff x="0" y="0"/>
            <a:chExt cx="190500" cy="20955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90500" cy="209550"/>
            </a:xfrm>
            <a:custGeom>
              <a:avLst/>
              <a:gdLst/>
              <a:ahLst/>
              <a:cxnLst/>
              <a:rect r="r" b="b" t="t" l="l"/>
              <a:pathLst>
                <a:path h="2095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538" y="6943725"/>
            <a:ext cx="142875" cy="157162"/>
            <a:chOff x="0" y="0"/>
            <a:chExt cx="190500" cy="20955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90500" cy="209550"/>
            </a:xfrm>
            <a:custGeom>
              <a:avLst/>
              <a:gdLst/>
              <a:ahLst/>
              <a:cxnLst/>
              <a:rect r="r" b="b" t="t" l="l"/>
              <a:pathLst>
                <a:path h="2095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265355" y="3857625"/>
            <a:ext cx="7679620" cy="3178859"/>
            <a:chOff x="0" y="0"/>
            <a:chExt cx="9296400" cy="384810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9296400" cy="3848100"/>
            </a:xfrm>
            <a:custGeom>
              <a:avLst/>
              <a:gdLst/>
              <a:ahLst/>
              <a:cxnLst/>
              <a:rect r="r" b="b" t="t" l="l"/>
              <a:pathLst>
                <a:path h="3848100" w="9296400">
                  <a:moveTo>
                    <a:pt x="0" y="0"/>
                  </a:moveTo>
                  <a:lnTo>
                    <a:pt x="9296400" y="0"/>
                  </a:lnTo>
                  <a:lnTo>
                    <a:pt x="9296400" y="3848100"/>
                  </a:lnTo>
                  <a:lnTo>
                    <a:pt x="0" y="384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9E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71537" y="1314725"/>
            <a:ext cx="4140061" cy="596381"/>
            <a:chOff x="0" y="0"/>
            <a:chExt cx="3702850" cy="533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02844" cy="533400"/>
            </a:xfrm>
            <a:custGeom>
              <a:avLst/>
              <a:gdLst/>
              <a:ahLst/>
              <a:cxnLst/>
              <a:rect r="r" b="b" t="t" l="l"/>
              <a:pathLst>
                <a:path h="533400" w="3702844">
                  <a:moveTo>
                    <a:pt x="0" y="0"/>
                  </a:moveTo>
                  <a:lnTo>
                    <a:pt x="3702844" y="0"/>
                  </a:lnTo>
                  <a:lnTo>
                    <a:pt x="3702844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5264" r="0" b="-8526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70285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 STATEMENT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85825" y="3330331"/>
            <a:ext cx="7715250" cy="1463126"/>
            <a:chOff x="0" y="0"/>
            <a:chExt cx="10287000" cy="19508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87000" cy="1950840"/>
            </a:xfrm>
            <a:custGeom>
              <a:avLst/>
              <a:gdLst/>
              <a:ahLst/>
              <a:cxnLst/>
              <a:rect r="r" b="b" t="t" l="l"/>
              <a:pathLst>
                <a:path h="195084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1950840"/>
                  </a:lnTo>
                  <a:lnTo>
                    <a:pt x="0" y="19508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2746" r="0" b="-5274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0287000" cy="19794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>
                  <a:solidFill>
                    <a:srgbClr val="101828"/>
                  </a:solidFill>
                  <a:latin typeface="Arial"/>
                  <a:ea typeface="Arial"/>
                  <a:cs typeface="Arial"/>
                  <a:sym typeface="Arial"/>
                </a:rPr>
                <a:t>Challenges in Fake News Detection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28725" y="5250656"/>
            <a:ext cx="6832330" cy="440007"/>
            <a:chOff x="0" y="0"/>
            <a:chExt cx="9109774" cy="5866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09770" cy="586680"/>
            </a:xfrm>
            <a:custGeom>
              <a:avLst/>
              <a:gdLst/>
              <a:ahLst/>
              <a:cxnLst/>
              <a:rect r="r" b="b" t="t" l="l"/>
              <a:pathLst>
                <a:path h="586680" w="9109770">
                  <a:moveTo>
                    <a:pt x="0" y="0"/>
                  </a:moveTo>
                  <a:lnTo>
                    <a:pt x="9109770" y="0"/>
                  </a:lnTo>
                  <a:lnTo>
                    <a:pt x="9109770" y="586680"/>
                  </a:lnTo>
                  <a:lnTo>
                    <a:pt x="0" y="5866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2557" r="0" b="-25255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9109774" cy="6057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364153"/>
                  </a:solidFill>
                  <a:latin typeface="Arial"/>
                  <a:ea typeface="Arial"/>
                  <a:cs typeface="Arial"/>
                  <a:sym typeface="Arial"/>
                </a:rPr>
                <a:t>Distinguishing fake vs real news is challenging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28725" y="6033564"/>
            <a:ext cx="6149207" cy="440007"/>
            <a:chOff x="0" y="0"/>
            <a:chExt cx="8198942" cy="5866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98942" cy="586680"/>
            </a:xfrm>
            <a:custGeom>
              <a:avLst/>
              <a:gdLst/>
              <a:ahLst/>
              <a:cxnLst/>
              <a:rect r="r" b="b" t="t" l="l"/>
              <a:pathLst>
                <a:path h="586680" w="8198942">
                  <a:moveTo>
                    <a:pt x="0" y="0"/>
                  </a:moveTo>
                  <a:lnTo>
                    <a:pt x="8198942" y="0"/>
                  </a:lnTo>
                  <a:lnTo>
                    <a:pt x="8198942" y="586680"/>
                  </a:lnTo>
                  <a:lnTo>
                    <a:pt x="0" y="5866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2306" r="0" b="-22230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8198942" cy="6057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364153"/>
                  </a:solidFill>
                  <a:latin typeface="Arial"/>
                  <a:ea typeface="Arial"/>
                  <a:cs typeface="Arial"/>
                  <a:sym typeface="Arial"/>
                </a:rPr>
                <a:t>Language can be intentionally misleading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28725" y="6816481"/>
            <a:ext cx="4987452" cy="440007"/>
            <a:chOff x="0" y="0"/>
            <a:chExt cx="6649936" cy="58667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49938" cy="586680"/>
            </a:xfrm>
            <a:custGeom>
              <a:avLst/>
              <a:gdLst/>
              <a:ahLst/>
              <a:cxnLst/>
              <a:rect r="r" b="b" t="t" l="l"/>
              <a:pathLst>
                <a:path h="586680" w="6649938">
                  <a:moveTo>
                    <a:pt x="0" y="0"/>
                  </a:moveTo>
                  <a:lnTo>
                    <a:pt x="6649938" y="0"/>
                  </a:lnTo>
                  <a:lnTo>
                    <a:pt x="6649938" y="586680"/>
                  </a:lnTo>
                  <a:lnTo>
                    <a:pt x="0" y="5866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0860" r="0" b="-17085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6649936" cy="6057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364153"/>
                  </a:solidFill>
                  <a:latin typeface="Arial"/>
                  <a:ea typeface="Arial"/>
                  <a:cs typeface="Arial"/>
                  <a:sym typeface="Arial"/>
                </a:rPr>
                <a:t>Traditional methods lack accuracy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658475" y="4487618"/>
            <a:ext cx="5657850" cy="353215"/>
            <a:chOff x="0" y="0"/>
            <a:chExt cx="7543800" cy="47095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543800" cy="470953"/>
            </a:xfrm>
            <a:custGeom>
              <a:avLst/>
              <a:gdLst/>
              <a:ahLst/>
              <a:cxnLst/>
              <a:rect r="r" b="b" t="t" l="l"/>
              <a:pathLst>
                <a:path h="470953" w="7543800">
                  <a:moveTo>
                    <a:pt x="0" y="0"/>
                  </a:moveTo>
                  <a:lnTo>
                    <a:pt x="7543800" y="0"/>
                  </a:lnTo>
                  <a:lnTo>
                    <a:pt x="7543800" y="470953"/>
                  </a:lnTo>
                  <a:lnTo>
                    <a:pt x="0" y="47095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1664" r="0" b="-25256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7543800" cy="490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49" b="true">
                  <a:solidFill>
                    <a:srgbClr val="002FA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Primary Objective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201275" y="5136356"/>
            <a:ext cx="457200" cy="471488"/>
            <a:chOff x="0" y="0"/>
            <a:chExt cx="609600" cy="62865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609600" cy="628650"/>
            </a:xfrm>
            <a:custGeom>
              <a:avLst/>
              <a:gdLst/>
              <a:ahLst/>
              <a:cxnLst/>
              <a:rect r="r" b="b" t="t" l="l"/>
              <a:pathLst>
                <a:path h="62865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28650"/>
                  </a:lnTo>
                  <a:lnTo>
                    <a:pt x="0" y="628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032304" y="5059118"/>
            <a:ext cx="5284021" cy="1098794"/>
            <a:chOff x="0" y="0"/>
            <a:chExt cx="6667500" cy="13864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667500" cy="1386482"/>
            </a:xfrm>
            <a:custGeom>
              <a:avLst/>
              <a:gdLst/>
              <a:ahLst/>
              <a:cxnLst/>
              <a:rect r="r" b="b" t="t" l="l"/>
              <a:pathLst>
                <a:path h="1386482" w="6667500">
                  <a:moveTo>
                    <a:pt x="0" y="0"/>
                  </a:moveTo>
                  <a:lnTo>
                    <a:pt x="6667500" y="0"/>
                  </a:lnTo>
                  <a:lnTo>
                    <a:pt x="6667500" y="1386482"/>
                  </a:lnTo>
                  <a:lnTo>
                    <a:pt x="0" y="138648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702" r="0" b="-4370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6667500" cy="1405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01828"/>
                  </a:solidFill>
                  <a:latin typeface="Arial"/>
                  <a:ea typeface="Arial"/>
                  <a:cs typeface="Arial"/>
                  <a:sym typeface="Arial"/>
                </a:rPr>
                <a:t>Goal: Build a robust classification system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986588" y="2128838"/>
            <a:ext cx="714375" cy="728662"/>
            <a:chOff x="0" y="0"/>
            <a:chExt cx="952500" cy="97155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52500" cy="971550"/>
            </a:xfrm>
            <a:custGeom>
              <a:avLst/>
              <a:gdLst/>
              <a:ahLst/>
              <a:cxnLst/>
              <a:rect r="r" b="b" t="t" l="l"/>
              <a:pathLst>
                <a:path h="97155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971550"/>
                  </a:lnTo>
                  <a:lnTo>
                    <a:pt x="0" y="9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15200" y="2900362"/>
            <a:ext cx="57150" cy="442912"/>
            <a:chOff x="0" y="0"/>
            <a:chExt cx="76200" cy="59055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76200" cy="590550"/>
            </a:xfrm>
            <a:custGeom>
              <a:avLst/>
              <a:gdLst/>
              <a:ahLst/>
              <a:cxnLst/>
              <a:rect r="r" b="b" t="t" l="l"/>
              <a:pathLst>
                <a:path h="590550" w="76200">
                  <a:moveTo>
                    <a:pt x="0" y="0"/>
                  </a:moveTo>
                  <a:lnTo>
                    <a:pt x="76200" y="0"/>
                  </a:lnTo>
                  <a:lnTo>
                    <a:pt x="762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986588" y="3529012"/>
            <a:ext cx="714375" cy="728662"/>
            <a:chOff x="0" y="0"/>
            <a:chExt cx="952500" cy="97155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952500" cy="971550"/>
            </a:xfrm>
            <a:custGeom>
              <a:avLst/>
              <a:gdLst/>
              <a:ahLst/>
              <a:cxnLst/>
              <a:rect r="r" b="b" t="t" l="l"/>
              <a:pathLst>
                <a:path h="97155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971550"/>
                  </a:lnTo>
                  <a:lnTo>
                    <a:pt x="0" y="9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315200" y="4300538"/>
            <a:ext cx="57150" cy="442912"/>
            <a:chOff x="0" y="0"/>
            <a:chExt cx="76200" cy="59055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76200" cy="590550"/>
            </a:xfrm>
            <a:custGeom>
              <a:avLst/>
              <a:gdLst/>
              <a:ahLst/>
              <a:cxnLst/>
              <a:rect r="r" b="b" t="t" l="l"/>
              <a:pathLst>
                <a:path h="590550" w="76200">
                  <a:moveTo>
                    <a:pt x="0" y="0"/>
                  </a:moveTo>
                  <a:lnTo>
                    <a:pt x="76200" y="0"/>
                  </a:lnTo>
                  <a:lnTo>
                    <a:pt x="762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986588" y="4929188"/>
            <a:ext cx="714375" cy="728662"/>
            <a:chOff x="0" y="0"/>
            <a:chExt cx="952500" cy="97155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952500" cy="971550"/>
            </a:xfrm>
            <a:custGeom>
              <a:avLst/>
              <a:gdLst/>
              <a:ahLst/>
              <a:cxnLst/>
              <a:rect r="r" b="b" t="t" l="l"/>
              <a:pathLst>
                <a:path h="97155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971550"/>
                  </a:lnTo>
                  <a:lnTo>
                    <a:pt x="0" y="9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315200" y="5700712"/>
            <a:ext cx="57150" cy="442912"/>
            <a:chOff x="0" y="0"/>
            <a:chExt cx="76200" cy="59055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76200" cy="590550"/>
            </a:xfrm>
            <a:custGeom>
              <a:avLst/>
              <a:gdLst/>
              <a:ahLst/>
              <a:cxnLst/>
              <a:rect r="r" b="b" t="t" l="l"/>
              <a:pathLst>
                <a:path h="590550" w="76200">
                  <a:moveTo>
                    <a:pt x="0" y="0"/>
                  </a:moveTo>
                  <a:lnTo>
                    <a:pt x="76200" y="0"/>
                  </a:lnTo>
                  <a:lnTo>
                    <a:pt x="762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986588" y="6329362"/>
            <a:ext cx="714375" cy="728662"/>
            <a:chOff x="0" y="0"/>
            <a:chExt cx="952500" cy="97155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952500" cy="971550"/>
            </a:xfrm>
            <a:custGeom>
              <a:avLst/>
              <a:gdLst/>
              <a:ahLst/>
              <a:cxnLst/>
              <a:rect r="r" b="b" t="t" l="l"/>
              <a:pathLst>
                <a:path h="97155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971550"/>
                  </a:lnTo>
                  <a:lnTo>
                    <a:pt x="0" y="9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315200" y="7100888"/>
            <a:ext cx="57150" cy="442912"/>
            <a:chOff x="0" y="0"/>
            <a:chExt cx="76200" cy="59055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76200" cy="590550"/>
            </a:xfrm>
            <a:custGeom>
              <a:avLst/>
              <a:gdLst/>
              <a:ahLst/>
              <a:cxnLst/>
              <a:rect r="r" b="b" t="t" l="l"/>
              <a:pathLst>
                <a:path h="590550" w="76200">
                  <a:moveTo>
                    <a:pt x="0" y="0"/>
                  </a:moveTo>
                  <a:lnTo>
                    <a:pt x="76200" y="0"/>
                  </a:lnTo>
                  <a:lnTo>
                    <a:pt x="762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986588" y="7729538"/>
            <a:ext cx="714375" cy="728662"/>
            <a:chOff x="0" y="0"/>
            <a:chExt cx="952500" cy="97155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952500" cy="971550"/>
            </a:xfrm>
            <a:custGeom>
              <a:avLst/>
              <a:gdLst/>
              <a:ahLst/>
              <a:cxnLst/>
              <a:rect r="r" b="b" t="t" l="l"/>
              <a:pathLst>
                <a:path h="97155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971550"/>
                  </a:lnTo>
                  <a:lnTo>
                    <a:pt x="0" y="9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28625" y="2910055"/>
            <a:ext cx="6115050" cy="1011863"/>
            <a:chOff x="0" y="0"/>
            <a:chExt cx="8153400" cy="13491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53400" cy="1349146"/>
            </a:xfrm>
            <a:custGeom>
              <a:avLst/>
              <a:gdLst/>
              <a:ahLst/>
              <a:cxnLst/>
              <a:rect r="r" b="b" t="t" l="l"/>
              <a:pathLst>
                <a:path h="1349146" w="8153400">
                  <a:moveTo>
                    <a:pt x="0" y="0"/>
                  </a:moveTo>
                  <a:lnTo>
                    <a:pt x="8153400" y="0"/>
                  </a:lnTo>
                  <a:lnTo>
                    <a:pt x="8153400" y="1349146"/>
                  </a:lnTo>
                  <a:lnTo>
                    <a:pt x="0" y="134914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1605" r="0" b="-5390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8153400" cy="1368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79"/>
                </a:lnSpc>
              </a:pPr>
              <a:r>
                <a:rPr lang="en-US" sz="4899">
                  <a:solidFill>
                    <a:srgbClr val="101828"/>
                  </a:solidFill>
                  <a:latin typeface="Arial"/>
                  <a:ea typeface="Arial"/>
                  <a:cs typeface="Arial"/>
                  <a:sym typeface="Arial"/>
                </a:rPr>
                <a:t>Project Objectives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28625" y="4414838"/>
            <a:ext cx="6115050" cy="1028700"/>
            <a:chOff x="0" y="0"/>
            <a:chExt cx="8153400" cy="1371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53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153400">
                  <a:moveTo>
                    <a:pt x="0" y="0"/>
                  </a:moveTo>
                  <a:lnTo>
                    <a:pt x="8153400" y="0"/>
                  </a:lnTo>
                  <a:lnTo>
                    <a:pt x="8153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5827" r="0" b="-6582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8153400" cy="140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A5565"/>
                  </a:solidFill>
                  <a:latin typeface="Arial"/>
                  <a:ea typeface="Arial"/>
                  <a:cs typeface="Arial"/>
                  <a:sym typeface="Arial"/>
                </a:rPr>
                <a:t>The primary goals of this research involve building a robust classification system and comparing various NLP models to effectively detect fake news.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261841" y="2293144"/>
            <a:ext cx="163640" cy="400050"/>
            <a:chOff x="0" y="0"/>
            <a:chExt cx="218186" cy="533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8182" cy="533400"/>
            </a:xfrm>
            <a:custGeom>
              <a:avLst/>
              <a:gdLst/>
              <a:ahLst/>
              <a:cxnLst/>
              <a:rect r="r" b="b" t="t" l="l"/>
              <a:pathLst>
                <a:path h="533400" w="218182">
                  <a:moveTo>
                    <a:pt x="0" y="0"/>
                  </a:moveTo>
                  <a:lnTo>
                    <a:pt x="218182" y="0"/>
                  </a:lnTo>
                  <a:lnTo>
                    <a:pt x="218182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63668" t="0" r="-26367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18186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972425" y="2321719"/>
            <a:ext cx="9886950" cy="400050"/>
            <a:chOff x="0" y="0"/>
            <a:chExt cx="13182600" cy="533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182600" cy="533400"/>
            </a:xfrm>
            <a:custGeom>
              <a:avLst/>
              <a:gdLst/>
              <a:ahLst/>
              <a:cxnLst/>
              <a:rect r="r" b="b" t="t" l="l"/>
              <a:pathLst>
                <a:path h="533400" w="13182600">
                  <a:moveTo>
                    <a:pt x="0" y="0"/>
                  </a:moveTo>
                  <a:lnTo>
                    <a:pt x="13182600" y="0"/>
                  </a:lnTo>
                  <a:lnTo>
                    <a:pt x="131826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1558" r="0" b="-43155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318260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Classify news as Fake or Real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261841" y="3693319"/>
            <a:ext cx="163640" cy="400050"/>
            <a:chOff x="0" y="0"/>
            <a:chExt cx="218186" cy="533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8182" cy="533400"/>
            </a:xfrm>
            <a:custGeom>
              <a:avLst/>
              <a:gdLst/>
              <a:ahLst/>
              <a:cxnLst/>
              <a:rect r="r" b="b" t="t" l="l"/>
              <a:pathLst>
                <a:path h="533400" w="218182">
                  <a:moveTo>
                    <a:pt x="0" y="0"/>
                  </a:moveTo>
                  <a:lnTo>
                    <a:pt x="218182" y="0"/>
                  </a:lnTo>
                  <a:lnTo>
                    <a:pt x="218182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63668" t="0" r="-26367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218186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972425" y="3721894"/>
            <a:ext cx="9886950" cy="400050"/>
            <a:chOff x="0" y="0"/>
            <a:chExt cx="13182600" cy="533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182600" cy="533400"/>
            </a:xfrm>
            <a:custGeom>
              <a:avLst/>
              <a:gdLst/>
              <a:ahLst/>
              <a:cxnLst/>
              <a:rect r="r" b="b" t="t" l="l"/>
              <a:pathLst>
                <a:path h="533400" w="13182600">
                  <a:moveTo>
                    <a:pt x="0" y="0"/>
                  </a:moveTo>
                  <a:lnTo>
                    <a:pt x="13182600" y="0"/>
                  </a:lnTo>
                  <a:lnTo>
                    <a:pt x="131826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1558" r="0" b="-43155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1318260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 NLP techniques for feature extraction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261841" y="5093494"/>
            <a:ext cx="163640" cy="400050"/>
            <a:chOff x="0" y="0"/>
            <a:chExt cx="218186" cy="533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8182" cy="533400"/>
            </a:xfrm>
            <a:custGeom>
              <a:avLst/>
              <a:gdLst/>
              <a:ahLst/>
              <a:cxnLst/>
              <a:rect r="r" b="b" t="t" l="l"/>
              <a:pathLst>
                <a:path h="533400" w="218182">
                  <a:moveTo>
                    <a:pt x="0" y="0"/>
                  </a:moveTo>
                  <a:lnTo>
                    <a:pt x="218182" y="0"/>
                  </a:lnTo>
                  <a:lnTo>
                    <a:pt x="218182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63668" t="0" r="-263670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218186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972425" y="5122069"/>
            <a:ext cx="9886950" cy="800100"/>
            <a:chOff x="0" y="0"/>
            <a:chExt cx="13182600" cy="1066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1826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3182600">
                  <a:moveTo>
                    <a:pt x="0" y="0"/>
                  </a:moveTo>
                  <a:lnTo>
                    <a:pt x="13182600" y="0"/>
                  </a:lnTo>
                  <a:lnTo>
                    <a:pt x="131826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0779" r="0" b="-19077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3182600" cy="1076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Compare multiple models: Logistic Regression, Gradient Boosting, BERT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261841" y="6493669"/>
            <a:ext cx="163640" cy="400050"/>
            <a:chOff x="0" y="0"/>
            <a:chExt cx="218186" cy="533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8182" cy="533400"/>
            </a:xfrm>
            <a:custGeom>
              <a:avLst/>
              <a:gdLst/>
              <a:ahLst/>
              <a:cxnLst/>
              <a:rect r="r" b="b" t="t" l="l"/>
              <a:pathLst>
                <a:path h="533400" w="218182">
                  <a:moveTo>
                    <a:pt x="0" y="0"/>
                  </a:moveTo>
                  <a:lnTo>
                    <a:pt x="218182" y="0"/>
                  </a:lnTo>
                  <a:lnTo>
                    <a:pt x="218182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63668" t="0" r="-263670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218186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972425" y="6522244"/>
            <a:ext cx="9886950" cy="400050"/>
            <a:chOff x="0" y="0"/>
            <a:chExt cx="13182600" cy="533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182600" cy="533400"/>
            </a:xfrm>
            <a:custGeom>
              <a:avLst/>
              <a:gdLst/>
              <a:ahLst/>
              <a:cxnLst/>
              <a:rect r="r" b="b" t="t" l="l"/>
              <a:pathLst>
                <a:path h="533400" w="13182600">
                  <a:moveTo>
                    <a:pt x="0" y="0"/>
                  </a:moveTo>
                  <a:lnTo>
                    <a:pt x="13182600" y="0"/>
                  </a:lnTo>
                  <a:lnTo>
                    <a:pt x="131826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1558" r="0" b="-43155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1318260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Analyze linguistic patterns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261841" y="7893844"/>
            <a:ext cx="163640" cy="400050"/>
            <a:chOff x="0" y="0"/>
            <a:chExt cx="218186" cy="533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8182" cy="533400"/>
            </a:xfrm>
            <a:custGeom>
              <a:avLst/>
              <a:gdLst/>
              <a:ahLst/>
              <a:cxnLst/>
              <a:rect r="r" b="b" t="t" l="l"/>
              <a:pathLst>
                <a:path h="533400" w="218182">
                  <a:moveTo>
                    <a:pt x="0" y="0"/>
                  </a:moveTo>
                  <a:lnTo>
                    <a:pt x="218182" y="0"/>
                  </a:lnTo>
                  <a:lnTo>
                    <a:pt x="218182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63668" t="0" r="-263670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218186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972425" y="7922419"/>
            <a:ext cx="9886950" cy="400050"/>
            <a:chOff x="0" y="0"/>
            <a:chExt cx="13182600" cy="533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182600" cy="533400"/>
            </a:xfrm>
            <a:custGeom>
              <a:avLst/>
              <a:gdLst/>
              <a:ahLst/>
              <a:cxnLst/>
              <a:rect r="r" b="b" t="t" l="l"/>
              <a:pathLst>
                <a:path h="533400" w="13182600">
                  <a:moveTo>
                    <a:pt x="0" y="0"/>
                  </a:moveTo>
                  <a:lnTo>
                    <a:pt x="13182600" y="0"/>
                  </a:lnTo>
                  <a:lnTo>
                    <a:pt x="131826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1558" r="0" b="-43155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1318260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Evaluate cross-domain performance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42862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986588" y="1557338"/>
            <a:ext cx="10887075" cy="7472362"/>
            <a:chOff x="0" y="0"/>
            <a:chExt cx="14516100" cy="996315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4516100" cy="9963150"/>
            </a:xfrm>
            <a:custGeom>
              <a:avLst/>
              <a:gdLst/>
              <a:ahLst/>
              <a:cxnLst/>
              <a:rect r="r" b="b" t="t" l="l"/>
              <a:pathLst>
                <a:path h="9963150" w="14516100">
                  <a:moveTo>
                    <a:pt x="0" y="0"/>
                  </a:moveTo>
                  <a:lnTo>
                    <a:pt x="14516100" y="0"/>
                  </a:lnTo>
                  <a:lnTo>
                    <a:pt x="14516100" y="9963150"/>
                  </a:lnTo>
                  <a:lnTo>
                    <a:pt x="0" y="9963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58075" y="2571750"/>
            <a:ext cx="714375" cy="728662"/>
            <a:chOff x="0" y="0"/>
            <a:chExt cx="952500" cy="97155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500" cy="971550"/>
            </a:xfrm>
            <a:custGeom>
              <a:avLst/>
              <a:gdLst/>
              <a:ahLst/>
              <a:cxnLst/>
              <a:rect r="r" b="b" t="t" l="l"/>
              <a:pathLst>
                <a:path h="97155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971550"/>
                  </a:lnTo>
                  <a:lnTo>
                    <a:pt x="0" y="9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786688" y="3343275"/>
            <a:ext cx="57150" cy="442912"/>
            <a:chOff x="0" y="0"/>
            <a:chExt cx="76200" cy="59055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76200" cy="590550"/>
            </a:xfrm>
            <a:custGeom>
              <a:avLst/>
              <a:gdLst/>
              <a:ahLst/>
              <a:cxnLst/>
              <a:rect r="r" b="b" t="t" l="l"/>
              <a:pathLst>
                <a:path h="590550" w="76200">
                  <a:moveTo>
                    <a:pt x="0" y="0"/>
                  </a:moveTo>
                  <a:lnTo>
                    <a:pt x="76200" y="0"/>
                  </a:lnTo>
                  <a:lnTo>
                    <a:pt x="762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458075" y="3971925"/>
            <a:ext cx="714375" cy="728662"/>
            <a:chOff x="0" y="0"/>
            <a:chExt cx="952500" cy="97155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952500" cy="971550"/>
            </a:xfrm>
            <a:custGeom>
              <a:avLst/>
              <a:gdLst/>
              <a:ahLst/>
              <a:cxnLst/>
              <a:rect r="r" b="b" t="t" l="l"/>
              <a:pathLst>
                <a:path h="97155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971550"/>
                  </a:lnTo>
                  <a:lnTo>
                    <a:pt x="0" y="9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786688" y="4743450"/>
            <a:ext cx="57150" cy="442912"/>
            <a:chOff x="0" y="0"/>
            <a:chExt cx="76200" cy="59055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76200" cy="590550"/>
            </a:xfrm>
            <a:custGeom>
              <a:avLst/>
              <a:gdLst/>
              <a:ahLst/>
              <a:cxnLst/>
              <a:rect r="r" b="b" t="t" l="l"/>
              <a:pathLst>
                <a:path h="590550" w="76200">
                  <a:moveTo>
                    <a:pt x="0" y="0"/>
                  </a:moveTo>
                  <a:lnTo>
                    <a:pt x="76200" y="0"/>
                  </a:lnTo>
                  <a:lnTo>
                    <a:pt x="762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458075" y="5372100"/>
            <a:ext cx="714375" cy="728662"/>
            <a:chOff x="0" y="0"/>
            <a:chExt cx="952500" cy="97155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952500" cy="971550"/>
            </a:xfrm>
            <a:custGeom>
              <a:avLst/>
              <a:gdLst/>
              <a:ahLst/>
              <a:cxnLst/>
              <a:rect r="r" b="b" t="t" l="l"/>
              <a:pathLst>
                <a:path h="97155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971550"/>
                  </a:lnTo>
                  <a:lnTo>
                    <a:pt x="0" y="9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786688" y="6143625"/>
            <a:ext cx="57150" cy="442912"/>
            <a:chOff x="0" y="0"/>
            <a:chExt cx="76200" cy="59055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76200" cy="590550"/>
            </a:xfrm>
            <a:custGeom>
              <a:avLst/>
              <a:gdLst/>
              <a:ahLst/>
              <a:cxnLst/>
              <a:rect r="r" b="b" t="t" l="l"/>
              <a:pathLst>
                <a:path h="590550" w="76200">
                  <a:moveTo>
                    <a:pt x="0" y="0"/>
                  </a:moveTo>
                  <a:lnTo>
                    <a:pt x="76200" y="0"/>
                  </a:lnTo>
                  <a:lnTo>
                    <a:pt x="762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458075" y="6772275"/>
            <a:ext cx="714375" cy="728662"/>
            <a:chOff x="0" y="0"/>
            <a:chExt cx="952500" cy="97155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952500" cy="971550"/>
            </a:xfrm>
            <a:custGeom>
              <a:avLst/>
              <a:gdLst/>
              <a:ahLst/>
              <a:cxnLst/>
              <a:rect r="r" b="b" t="t" l="l"/>
              <a:pathLst>
                <a:path h="97155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971550"/>
                  </a:lnTo>
                  <a:lnTo>
                    <a:pt x="0" y="9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458075" y="7915275"/>
            <a:ext cx="10415588" cy="1114425"/>
            <a:chOff x="0" y="0"/>
            <a:chExt cx="13887450" cy="14859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3887450" cy="1485900"/>
            </a:xfrm>
            <a:custGeom>
              <a:avLst/>
              <a:gdLst/>
              <a:ahLst/>
              <a:cxnLst/>
              <a:rect r="r" b="b" t="t" l="l"/>
              <a:pathLst>
                <a:path h="1485900" w="13887450">
                  <a:moveTo>
                    <a:pt x="0" y="0"/>
                  </a:moveTo>
                  <a:lnTo>
                    <a:pt x="13887450" y="0"/>
                  </a:lnTo>
                  <a:lnTo>
                    <a:pt x="13887450" y="1485900"/>
                  </a:lnTo>
                  <a:lnTo>
                    <a:pt x="0" y="1485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28625" y="428625"/>
            <a:ext cx="5033857" cy="1128712"/>
            <a:chOff x="0" y="0"/>
            <a:chExt cx="4682731" cy="104998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82728" cy="1049982"/>
            </a:xfrm>
            <a:custGeom>
              <a:avLst/>
              <a:gdLst/>
              <a:ahLst/>
              <a:cxnLst/>
              <a:rect r="r" b="b" t="t" l="l"/>
              <a:pathLst>
                <a:path h="1049982" w="4682728">
                  <a:moveTo>
                    <a:pt x="0" y="0"/>
                  </a:moveTo>
                  <a:lnTo>
                    <a:pt x="4682728" y="0"/>
                  </a:lnTo>
                  <a:lnTo>
                    <a:pt x="4682728" y="1049982"/>
                  </a:lnTo>
                  <a:lnTo>
                    <a:pt x="0" y="104998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1499" r="0" b="-1230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682731" cy="1069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DATASET &amp; PREPROCESSING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28625" y="1583007"/>
            <a:ext cx="6115050" cy="731568"/>
            <a:chOff x="0" y="0"/>
            <a:chExt cx="8153400" cy="97542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53400" cy="975420"/>
            </a:xfrm>
            <a:custGeom>
              <a:avLst/>
              <a:gdLst/>
              <a:ahLst/>
              <a:cxnLst/>
              <a:rect r="r" b="b" t="t" l="l"/>
              <a:pathLst>
                <a:path h="975420" w="8153400">
                  <a:moveTo>
                    <a:pt x="0" y="0"/>
                  </a:moveTo>
                  <a:lnTo>
                    <a:pt x="8153400" y="0"/>
                  </a:lnTo>
                  <a:lnTo>
                    <a:pt x="8153400" y="975420"/>
                  </a:lnTo>
                  <a:lnTo>
                    <a:pt x="0" y="9754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12872" r="0" b="-11287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8153400" cy="1003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>
                  <a:solidFill>
                    <a:srgbClr val="101828"/>
                  </a:solidFill>
                  <a:latin typeface="Arial"/>
                  <a:ea typeface="Arial"/>
                  <a:cs typeface="Arial"/>
                  <a:sym typeface="Arial"/>
                </a:rPr>
                <a:t>Dataset (LIAR)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28625" y="2657475"/>
            <a:ext cx="6115050" cy="402291"/>
            <a:chOff x="0" y="0"/>
            <a:chExt cx="8153400" cy="5363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53400" cy="536382"/>
            </a:xfrm>
            <a:custGeom>
              <a:avLst/>
              <a:gdLst/>
              <a:ahLst/>
              <a:cxnLst/>
              <a:rect r="r" b="b" t="t" l="l"/>
              <a:pathLst>
                <a:path h="536382" w="8153400">
                  <a:moveTo>
                    <a:pt x="0" y="0"/>
                  </a:moveTo>
                  <a:lnTo>
                    <a:pt x="8153400" y="0"/>
                  </a:lnTo>
                  <a:lnTo>
                    <a:pt x="8153400" y="536382"/>
                  </a:lnTo>
                  <a:lnTo>
                    <a:pt x="0" y="53638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50737" r="0" b="-24163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8153400" cy="555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9"/>
                </a:lnSpc>
              </a:pPr>
              <a:r>
                <a:rPr lang="en-US" sz="1949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Dataset used:</a:t>
              </a:r>
              <a:r>
                <a:rPr lang="en-US" sz="1949">
                  <a:solidFill>
                    <a:srgbClr val="364153"/>
                  </a:solidFill>
                  <a:latin typeface="Arial"/>
                  <a:ea typeface="Arial"/>
                  <a:cs typeface="Arial"/>
                  <a:sym typeface="Arial"/>
                </a:rPr>
                <a:t> LIAR Dataset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28625" y="3137449"/>
            <a:ext cx="6115050" cy="377753"/>
            <a:chOff x="0" y="0"/>
            <a:chExt cx="8153400" cy="50367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53400" cy="503665"/>
            </a:xfrm>
            <a:custGeom>
              <a:avLst/>
              <a:gdLst/>
              <a:ahLst/>
              <a:cxnLst/>
              <a:rect r="r" b="b" t="t" l="l"/>
              <a:pathLst>
                <a:path h="503665" w="8153400">
                  <a:moveTo>
                    <a:pt x="0" y="0"/>
                  </a:moveTo>
                  <a:lnTo>
                    <a:pt x="8153400" y="0"/>
                  </a:lnTo>
                  <a:lnTo>
                    <a:pt x="8153400" y="503665"/>
                  </a:lnTo>
                  <a:lnTo>
                    <a:pt x="0" y="50366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67024" r="0" b="-26382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8153400" cy="532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9"/>
                </a:lnSpc>
              </a:pPr>
              <a:r>
                <a:rPr lang="en-US" sz="1849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Contains:</a:t>
              </a:r>
              <a:r>
                <a:rPr lang="en-US" sz="1849">
                  <a:solidFill>
                    <a:srgbClr val="364153"/>
                  </a:solidFill>
                  <a:latin typeface="Arial"/>
                  <a:ea typeface="Arial"/>
                  <a:cs typeface="Arial"/>
                  <a:sym typeface="Arial"/>
                </a:rPr>
                <a:t> News statements with labels (Fake/Real)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28625" y="3960314"/>
            <a:ext cx="6115050" cy="429573"/>
            <a:chOff x="0" y="0"/>
            <a:chExt cx="8153400" cy="57276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53400" cy="572765"/>
            </a:xfrm>
            <a:custGeom>
              <a:avLst/>
              <a:gdLst/>
              <a:ahLst/>
              <a:cxnLst/>
              <a:rect r="r" b="b" t="t" l="l"/>
              <a:pathLst>
                <a:path h="572765" w="8153400">
                  <a:moveTo>
                    <a:pt x="0" y="0"/>
                  </a:moveTo>
                  <a:lnTo>
                    <a:pt x="8153400" y="0"/>
                  </a:lnTo>
                  <a:lnTo>
                    <a:pt x="8153400" y="572765"/>
                  </a:lnTo>
                  <a:lnTo>
                    <a:pt x="0" y="57276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30809" r="0" b="-22393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8153400" cy="5918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features: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98495" y="4560389"/>
            <a:ext cx="2147059" cy="625973"/>
            <a:chOff x="0" y="0"/>
            <a:chExt cx="2298061" cy="66999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98054" cy="669998"/>
            </a:xfrm>
            <a:custGeom>
              <a:avLst/>
              <a:gdLst/>
              <a:ahLst/>
              <a:cxnLst/>
              <a:rect r="r" b="b" t="t" l="l"/>
              <a:pathLst>
                <a:path h="669998" w="2298054">
                  <a:moveTo>
                    <a:pt x="0" y="0"/>
                  </a:moveTo>
                  <a:lnTo>
                    <a:pt x="2298054" y="0"/>
                  </a:lnTo>
                  <a:lnTo>
                    <a:pt x="2298054" y="669998"/>
                  </a:lnTo>
                  <a:lnTo>
                    <a:pt x="0" y="66999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7179" r="23243" b="1458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2298061" cy="6795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64182" indent="-232091" lvl="1">
                <a:lnSpc>
                  <a:spcPts val="2579"/>
                </a:lnSpc>
                <a:buFont typeface="Arial"/>
                <a:buChar char="•"/>
              </a:pPr>
              <a:r>
                <a:rPr lang="en-US" sz="2149">
                  <a:solidFill>
                    <a:srgbClr val="364153"/>
                  </a:solidFill>
                  <a:latin typeface="Arial"/>
                  <a:ea typeface="Arial"/>
                  <a:cs typeface="Arial"/>
                  <a:sym typeface="Arial"/>
                </a:rPr>
                <a:t>Text content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98495" y="5088574"/>
            <a:ext cx="1889045" cy="671965"/>
            <a:chOff x="0" y="0"/>
            <a:chExt cx="1368920" cy="48694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68922" cy="486948"/>
            </a:xfrm>
            <a:custGeom>
              <a:avLst/>
              <a:gdLst/>
              <a:ahLst/>
              <a:cxnLst/>
              <a:rect r="r" b="b" t="t" l="l"/>
              <a:pathLst>
                <a:path h="486948" w="1368922">
                  <a:moveTo>
                    <a:pt x="0" y="0"/>
                  </a:moveTo>
                  <a:lnTo>
                    <a:pt x="1368922" y="0"/>
                  </a:lnTo>
                  <a:lnTo>
                    <a:pt x="1368922" y="486948"/>
                  </a:lnTo>
                  <a:lnTo>
                    <a:pt x="0" y="48694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831" r="0" b="-172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1368920" cy="4964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64182" indent="-232091" lvl="1">
                <a:lnSpc>
                  <a:spcPts val="2579"/>
                </a:lnSpc>
                <a:buFont typeface="Arial"/>
                <a:buChar char="•"/>
              </a:pPr>
              <a:r>
                <a:rPr lang="en-US" sz="2149">
                  <a:solidFill>
                    <a:srgbClr val="364153"/>
                  </a:solidFill>
                  <a:latin typeface="Arial"/>
                  <a:ea typeface="Arial"/>
                  <a:cs typeface="Arial"/>
                  <a:sym typeface="Arial"/>
                </a:rPr>
                <a:t>Metadata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98495" y="5789114"/>
            <a:ext cx="3137336" cy="528185"/>
            <a:chOff x="0" y="0"/>
            <a:chExt cx="2937269" cy="49450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937272" cy="494503"/>
            </a:xfrm>
            <a:custGeom>
              <a:avLst/>
              <a:gdLst/>
              <a:ahLst/>
              <a:cxnLst/>
              <a:rect r="r" b="b" t="t" l="l"/>
              <a:pathLst>
                <a:path h="494503" w="2937272">
                  <a:moveTo>
                    <a:pt x="0" y="0"/>
                  </a:moveTo>
                  <a:lnTo>
                    <a:pt x="2937272" y="0"/>
                  </a:lnTo>
                  <a:lnTo>
                    <a:pt x="2937272" y="494503"/>
                  </a:lnTo>
                  <a:lnTo>
                    <a:pt x="0" y="49450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9509" r="0" b="-6196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2937269" cy="5040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64182" indent="-232091" lvl="1">
                <a:lnSpc>
                  <a:spcPts val="2579"/>
                </a:lnSpc>
                <a:buFont typeface="Arial"/>
                <a:buChar char="•"/>
              </a:pPr>
              <a:r>
                <a:rPr lang="en-US" sz="2149">
                  <a:solidFill>
                    <a:srgbClr val="364153"/>
                  </a:solidFill>
                  <a:latin typeface="Arial"/>
                  <a:ea typeface="Arial"/>
                  <a:cs typeface="Arial"/>
                  <a:sym typeface="Arial"/>
                </a:rPr>
                <a:t>Speaker information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98495" y="6295267"/>
            <a:ext cx="2267959" cy="582541"/>
            <a:chOff x="0" y="0"/>
            <a:chExt cx="1928508" cy="49535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928514" cy="495351"/>
            </a:xfrm>
            <a:custGeom>
              <a:avLst/>
              <a:gdLst/>
              <a:ahLst/>
              <a:cxnLst/>
              <a:rect r="r" b="b" t="t" l="l"/>
              <a:pathLst>
                <a:path h="495351" w="1928514">
                  <a:moveTo>
                    <a:pt x="0" y="0"/>
                  </a:moveTo>
                  <a:lnTo>
                    <a:pt x="1928514" y="0"/>
                  </a:lnTo>
                  <a:lnTo>
                    <a:pt x="1928514" y="495351"/>
                  </a:lnTo>
                  <a:lnTo>
                    <a:pt x="0" y="495351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9710" r="0" b="-22008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1928508" cy="5048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64182" indent="-232091" lvl="1">
                <a:lnSpc>
                  <a:spcPts val="2579"/>
                </a:lnSpc>
                <a:buFont typeface="Arial"/>
                <a:buChar char="•"/>
              </a:pPr>
              <a:r>
                <a:rPr lang="en-US" sz="2149">
                  <a:solidFill>
                    <a:srgbClr val="364153"/>
                  </a:solidFill>
                  <a:latin typeface="Arial"/>
                  <a:ea typeface="Arial"/>
                  <a:cs typeface="Arial"/>
                  <a:sym typeface="Arial"/>
                </a:rPr>
                <a:t>Credit history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472362" y="1583007"/>
            <a:ext cx="10387012" cy="548507"/>
            <a:chOff x="0" y="0"/>
            <a:chExt cx="13849350" cy="73134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849350" cy="731342"/>
            </a:xfrm>
            <a:custGeom>
              <a:avLst/>
              <a:gdLst/>
              <a:ahLst/>
              <a:cxnLst/>
              <a:rect r="r" b="b" t="t" l="l"/>
              <a:pathLst>
                <a:path h="731342" w="13849350">
                  <a:moveTo>
                    <a:pt x="0" y="0"/>
                  </a:moveTo>
                  <a:lnTo>
                    <a:pt x="13849350" y="0"/>
                  </a:lnTo>
                  <a:lnTo>
                    <a:pt x="13849350" y="731342"/>
                  </a:lnTo>
                  <a:lnTo>
                    <a:pt x="0" y="73134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18986" r="0" b="-31898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13849350" cy="7599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101828"/>
                  </a:solidFill>
                  <a:latin typeface="Arial"/>
                  <a:ea typeface="Arial"/>
                  <a:cs typeface="Arial"/>
                  <a:sym typeface="Arial"/>
                </a:rPr>
                <a:t>Data Preprocessing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733328" y="2731589"/>
            <a:ext cx="163640" cy="400050"/>
            <a:chOff x="0" y="0"/>
            <a:chExt cx="218186" cy="533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8182" cy="533400"/>
            </a:xfrm>
            <a:custGeom>
              <a:avLst/>
              <a:gdLst/>
              <a:ahLst/>
              <a:cxnLst/>
              <a:rect r="r" b="b" t="t" l="l"/>
              <a:pathLst>
                <a:path h="533400" w="218182">
                  <a:moveTo>
                    <a:pt x="0" y="0"/>
                  </a:moveTo>
                  <a:lnTo>
                    <a:pt x="218182" y="0"/>
                  </a:lnTo>
                  <a:lnTo>
                    <a:pt x="218182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63668" t="0" r="-263670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218186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443912" y="2760164"/>
            <a:ext cx="9415462" cy="400050"/>
            <a:chOff x="0" y="0"/>
            <a:chExt cx="12553950" cy="533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553950" cy="533400"/>
            </a:xfrm>
            <a:custGeom>
              <a:avLst/>
              <a:gdLst/>
              <a:ahLst/>
              <a:cxnLst/>
              <a:rect r="r" b="b" t="t" l="l"/>
              <a:pathLst>
                <a:path h="533400" w="12553950">
                  <a:moveTo>
                    <a:pt x="0" y="0"/>
                  </a:moveTo>
                  <a:lnTo>
                    <a:pt x="12553950" y="0"/>
                  </a:lnTo>
                  <a:lnTo>
                    <a:pt x="125539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08594" r="0" b="-40859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12553950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Lowercasing text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733328" y="4131764"/>
            <a:ext cx="163640" cy="400050"/>
            <a:chOff x="0" y="0"/>
            <a:chExt cx="218186" cy="533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18182" cy="533400"/>
            </a:xfrm>
            <a:custGeom>
              <a:avLst/>
              <a:gdLst/>
              <a:ahLst/>
              <a:cxnLst/>
              <a:rect r="r" b="b" t="t" l="l"/>
              <a:pathLst>
                <a:path h="533400" w="218182">
                  <a:moveTo>
                    <a:pt x="0" y="0"/>
                  </a:moveTo>
                  <a:lnTo>
                    <a:pt x="218182" y="0"/>
                  </a:lnTo>
                  <a:lnTo>
                    <a:pt x="218182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63668" t="0" r="-263670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218186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8443912" y="4160339"/>
            <a:ext cx="9415462" cy="400050"/>
            <a:chOff x="0" y="0"/>
            <a:chExt cx="12553950" cy="5334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2553950" cy="533400"/>
            </a:xfrm>
            <a:custGeom>
              <a:avLst/>
              <a:gdLst/>
              <a:ahLst/>
              <a:cxnLst/>
              <a:rect r="r" b="b" t="t" l="l"/>
              <a:pathLst>
                <a:path h="533400" w="12553950">
                  <a:moveTo>
                    <a:pt x="0" y="0"/>
                  </a:moveTo>
                  <a:lnTo>
                    <a:pt x="12553950" y="0"/>
                  </a:lnTo>
                  <a:lnTo>
                    <a:pt x="125539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08594" r="0" b="-40859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12553950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Removing punctuation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733328" y="5531939"/>
            <a:ext cx="163640" cy="400050"/>
            <a:chOff x="0" y="0"/>
            <a:chExt cx="218186" cy="5334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18182" cy="533400"/>
            </a:xfrm>
            <a:custGeom>
              <a:avLst/>
              <a:gdLst/>
              <a:ahLst/>
              <a:cxnLst/>
              <a:rect r="r" b="b" t="t" l="l"/>
              <a:pathLst>
                <a:path h="533400" w="218182">
                  <a:moveTo>
                    <a:pt x="0" y="0"/>
                  </a:moveTo>
                  <a:lnTo>
                    <a:pt x="218182" y="0"/>
                  </a:lnTo>
                  <a:lnTo>
                    <a:pt x="218182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63668" t="0" r="-263670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218186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443912" y="5560514"/>
            <a:ext cx="9415462" cy="400050"/>
            <a:chOff x="0" y="0"/>
            <a:chExt cx="12553950" cy="5334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2553950" cy="533400"/>
            </a:xfrm>
            <a:custGeom>
              <a:avLst/>
              <a:gdLst/>
              <a:ahLst/>
              <a:cxnLst/>
              <a:rect r="r" b="b" t="t" l="l"/>
              <a:pathLst>
                <a:path h="533400" w="12553950">
                  <a:moveTo>
                    <a:pt x="0" y="0"/>
                  </a:moveTo>
                  <a:lnTo>
                    <a:pt x="12553950" y="0"/>
                  </a:lnTo>
                  <a:lnTo>
                    <a:pt x="125539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08594" r="0" b="-40859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12553950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Stopword removal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733328" y="6932114"/>
            <a:ext cx="163640" cy="400050"/>
            <a:chOff x="0" y="0"/>
            <a:chExt cx="218186" cy="533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18182" cy="533400"/>
            </a:xfrm>
            <a:custGeom>
              <a:avLst/>
              <a:gdLst/>
              <a:ahLst/>
              <a:cxnLst/>
              <a:rect r="r" b="b" t="t" l="l"/>
              <a:pathLst>
                <a:path h="533400" w="218182">
                  <a:moveTo>
                    <a:pt x="0" y="0"/>
                  </a:moveTo>
                  <a:lnTo>
                    <a:pt x="218182" y="0"/>
                  </a:lnTo>
                  <a:lnTo>
                    <a:pt x="218182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63668" t="0" r="-263670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218186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443912" y="6960689"/>
            <a:ext cx="9415462" cy="400050"/>
            <a:chOff x="0" y="0"/>
            <a:chExt cx="12553950" cy="5334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2553950" cy="533400"/>
            </a:xfrm>
            <a:custGeom>
              <a:avLst/>
              <a:gdLst/>
              <a:ahLst/>
              <a:cxnLst/>
              <a:rect r="r" b="b" t="t" l="l"/>
              <a:pathLst>
                <a:path h="533400" w="12553950">
                  <a:moveTo>
                    <a:pt x="0" y="0"/>
                  </a:moveTo>
                  <a:lnTo>
                    <a:pt x="12553950" y="0"/>
                  </a:lnTo>
                  <a:lnTo>
                    <a:pt x="125539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08594" r="0" b="-40859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12553950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Tokenization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7472362" y="8289427"/>
            <a:ext cx="10387012" cy="469123"/>
            <a:chOff x="0" y="0"/>
            <a:chExt cx="13849350" cy="62549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3849350" cy="625498"/>
            </a:xfrm>
            <a:custGeom>
              <a:avLst/>
              <a:gdLst/>
              <a:ahLst/>
              <a:cxnLst/>
              <a:rect r="r" b="b" t="t" l="l"/>
              <a:pathLst>
                <a:path h="625498" w="13849350">
                  <a:moveTo>
                    <a:pt x="0" y="0"/>
                  </a:moveTo>
                  <a:lnTo>
                    <a:pt x="13849350" y="0"/>
                  </a:lnTo>
                  <a:lnTo>
                    <a:pt x="13849350" y="625498"/>
                  </a:lnTo>
                  <a:lnTo>
                    <a:pt x="0" y="62549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07059" r="0" b="-355789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13849350" cy="64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b="true" sz="22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Goal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7374245" y="8858250"/>
            <a:ext cx="10387012" cy="400050"/>
            <a:chOff x="0" y="0"/>
            <a:chExt cx="13849350" cy="5334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3849350" cy="533400"/>
            </a:xfrm>
            <a:custGeom>
              <a:avLst/>
              <a:gdLst/>
              <a:ahLst/>
              <a:cxnLst/>
              <a:rect r="r" b="b" t="t" l="l"/>
              <a:pathLst>
                <a:path h="533400" w="13849350">
                  <a:moveTo>
                    <a:pt x="0" y="0"/>
                  </a:moveTo>
                  <a:lnTo>
                    <a:pt x="13849350" y="0"/>
                  </a:lnTo>
                  <a:lnTo>
                    <a:pt x="138493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55915" r="0" b="-45591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13849350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Converts raw text → machine-readable format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215188" y="1657350"/>
            <a:ext cx="10658475" cy="3486150"/>
            <a:chOff x="0" y="0"/>
            <a:chExt cx="14211300" cy="46482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4211300" cy="4648200"/>
            </a:xfrm>
            <a:custGeom>
              <a:avLst/>
              <a:gdLst/>
              <a:ahLst/>
              <a:cxnLst/>
              <a:rect r="r" b="b" t="t" l="l"/>
              <a:pathLst>
                <a:path h="4648200" w="14211300">
                  <a:moveTo>
                    <a:pt x="0" y="0"/>
                  </a:moveTo>
                  <a:lnTo>
                    <a:pt x="14211300" y="0"/>
                  </a:lnTo>
                  <a:lnTo>
                    <a:pt x="14211300" y="4648200"/>
                  </a:lnTo>
                  <a:lnTo>
                    <a:pt x="0" y="464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215188" y="5443538"/>
            <a:ext cx="10658475" cy="3486150"/>
            <a:chOff x="0" y="0"/>
            <a:chExt cx="14211300" cy="46482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4211300" cy="4648200"/>
            </a:xfrm>
            <a:custGeom>
              <a:avLst/>
              <a:gdLst/>
              <a:ahLst/>
              <a:cxnLst/>
              <a:rect r="r" b="b" t="t" l="l"/>
              <a:pathLst>
                <a:path h="4648200" w="14211300">
                  <a:moveTo>
                    <a:pt x="0" y="0"/>
                  </a:moveTo>
                  <a:lnTo>
                    <a:pt x="14211300" y="0"/>
                  </a:lnTo>
                  <a:lnTo>
                    <a:pt x="14211300" y="4648200"/>
                  </a:lnTo>
                  <a:lnTo>
                    <a:pt x="0" y="464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28625" y="744616"/>
            <a:ext cx="779925" cy="696355"/>
            <a:chOff x="0" y="0"/>
            <a:chExt cx="675678" cy="6032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5680" cy="603278"/>
            </a:xfrm>
            <a:custGeom>
              <a:avLst/>
              <a:gdLst/>
              <a:ahLst/>
              <a:cxnLst/>
              <a:rect r="r" b="b" t="t" l="l"/>
              <a:pathLst>
                <a:path h="603278" w="675680">
                  <a:moveTo>
                    <a:pt x="0" y="0"/>
                  </a:moveTo>
                  <a:lnTo>
                    <a:pt x="675680" y="0"/>
                  </a:lnTo>
                  <a:lnTo>
                    <a:pt x="675680" y="603278"/>
                  </a:lnTo>
                  <a:lnTo>
                    <a:pt x="0" y="60327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1286" t="0" r="-51286" b="1158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75678" cy="622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EDA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28625" y="2014538"/>
            <a:ext cx="6115050" cy="685800"/>
            <a:chOff x="0" y="0"/>
            <a:chExt cx="81534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53400" cy="914400"/>
            </a:xfrm>
            <a:custGeom>
              <a:avLst/>
              <a:gdLst/>
              <a:ahLst/>
              <a:cxnLst/>
              <a:rect r="r" b="b" t="t" l="l"/>
              <a:pathLst>
                <a:path h="914400" w="8153400">
                  <a:moveTo>
                    <a:pt x="0" y="0"/>
                  </a:moveTo>
                  <a:lnTo>
                    <a:pt x="8153400" y="0"/>
                  </a:lnTo>
                  <a:lnTo>
                    <a:pt x="8153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3741" r="0" b="-12374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8153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101828"/>
                  </a:solidFill>
                  <a:latin typeface="Arial"/>
                  <a:ea typeface="Arial"/>
                  <a:cs typeface="Arial"/>
                  <a:sym typeface="Arial"/>
                </a:rPr>
                <a:t>Label Distribution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28625" y="3043238"/>
            <a:ext cx="6115050" cy="1320032"/>
            <a:chOff x="0" y="0"/>
            <a:chExt cx="8153400" cy="17600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53400" cy="1760042"/>
            </a:xfrm>
            <a:custGeom>
              <a:avLst/>
              <a:gdLst/>
              <a:ahLst/>
              <a:cxnLst/>
              <a:rect r="r" b="b" t="t" l="l"/>
              <a:pathLst>
                <a:path h="1760042" w="8153400">
                  <a:moveTo>
                    <a:pt x="0" y="0"/>
                  </a:moveTo>
                  <a:lnTo>
                    <a:pt x="8153400" y="0"/>
                  </a:lnTo>
                  <a:lnTo>
                    <a:pt x="8153400" y="1760042"/>
                  </a:lnTo>
                  <a:lnTo>
                    <a:pt x="0" y="176004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0264" r="0" b="-4026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8153400" cy="1779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 dataset originally contains 6-class labels: pants-fire, false, barely-true, half-true, mostly-true, and true.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28625" y="4649019"/>
            <a:ext cx="6115050" cy="880024"/>
            <a:chOff x="0" y="0"/>
            <a:chExt cx="8153400" cy="117336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53400" cy="1173360"/>
            </a:xfrm>
            <a:custGeom>
              <a:avLst/>
              <a:gdLst/>
              <a:ahLst/>
              <a:cxnLst/>
              <a:rect r="r" b="b" t="t" l="l"/>
              <a:pathLst>
                <a:path h="1173360" w="8153400">
                  <a:moveTo>
                    <a:pt x="0" y="0"/>
                  </a:moveTo>
                  <a:lnTo>
                    <a:pt x="8153400" y="0"/>
                  </a:lnTo>
                  <a:lnTo>
                    <a:pt x="8153400" y="1173360"/>
                  </a:lnTo>
                  <a:lnTo>
                    <a:pt x="0" y="11733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5396" r="0" b="-8539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8153400" cy="11924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For the purpose of this study, the dataset is simplified for </a:t>
              </a:r>
              <a:r>
                <a:rPr lang="en-US" b="true" sz="225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binary classification</a:t>
              </a:r>
              <a:r>
                <a:rPr lang="en-US" sz="22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28625" y="5814793"/>
            <a:ext cx="6115050" cy="1320032"/>
            <a:chOff x="0" y="0"/>
            <a:chExt cx="8153400" cy="17600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53400" cy="1760042"/>
            </a:xfrm>
            <a:custGeom>
              <a:avLst/>
              <a:gdLst/>
              <a:ahLst/>
              <a:cxnLst/>
              <a:rect r="r" b="b" t="t" l="l"/>
              <a:pathLst>
                <a:path h="1760042" w="8153400">
                  <a:moveTo>
                    <a:pt x="0" y="0"/>
                  </a:moveTo>
                  <a:lnTo>
                    <a:pt x="8153400" y="0"/>
                  </a:lnTo>
                  <a:lnTo>
                    <a:pt x="8153400" y="1760042"/>
                  </a:lnTo>
                  <a:lnTo>
                    <a:pt x="0" y="176004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0264" r="0" b="-4026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8153400" cy="1779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 binary split in the training set shows a relatively balanced distribution: </a:t>
              </a:r>
              <a:r>
                <a:rPr lang="en-US" b="true" sz="225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56.2% REAL</a:t>
              </a:r>
              <a:r>
                <a:rPr lang="en-US" sz="22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vs </a:t>
              </a:r>
              <a:r>
                <a:rPr lang="en-US" b="true" sz="225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43.8% FAKE</a:t>
              </a:r>
              <a:r>
                <a:rPr lang="en-US" sz="22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472362" y="1914525"/>
            <a:ext cx="10144125" cy="278606"/>
            <a:chOff x="0" y="0"/>
            <a:chExt cx="13525500" cy="37147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525500" cy="371476"/>
            </a:xfrm>
            <a:custGeom>
              <a:avLst/>
              <a:gdLst/>
              <a:ahLst/>
              <a:cxnLst/>
              <a:rect r="r" b="b" t="t" l="l"/>
              <a:pathLst>
                <a:path h="371476" w="13525500">
                  <a:moveTo>
                    <a:pt x="0" y="0"/>
                  </a:moveTo>
                  <a:lnTo>
                    <a:pt x="13525500" y="0"/>
                  </a:lnTo>
                  <a:lnTo>
                    <a:pt x="13525500" y="371476"/>
                  </a:lnTo>
                  <a:lnTo>
                    <a:pt x="0" y="37147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59453" r="0" b="-65945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35255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6-Class Label Distribution (Train)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458075" y="2286000"/>
            <a:ext cx="10172700" cy="2614612"/>
            <a:chOff x="0" y="0"/>
            <a:chExt cx="13563600" cy="348615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3563600" cy="3486150"/>
            </a:xfrm>
            <a:custGeom>
              <a:avLst/>
              <a:gdLst/>
              <a:ahLst/>
              <a:cxnLst/>
              <a:rect r="r" b="b" t="t" l="l"/>
              <a:pathLst>
                <a:path h="3486150" w="13563600">
                  <a:moveTo>
                    <a:pt x="0" y="0"/>
                  </a:moveTo>
                  <a:lnTo>
                    <a:pt x="13563600" y="0"/>
                  </a:lnTo>
                  <a:lnTo>
                    <a:pt x="13563600" y="3486150"/>
                  </a:lnTo>
                  <a:lnTo>
                    <a:pt x="0" y="3486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472362" y="5707856"/>
            <a:ext cx="10144125" cy="278606"/>
            <a:chOff x="0" y="0"/>
            <a:chExt cx="13525500" cy="37147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525500" cy="371476"/>
            </a:xfrm>
            <a:custGeom>
              <a:avLst/>
              <a:gdLst/>
              <a:ahLst/>
              <a:cxnLst/>
              <a:rect r="r" b="b" t="t" l="l"/>
              <a:pathLst>
                <a:path h="371476" w="13525500">
                  <a:moveTo>
                    <a:pt x="0" y="0"/>
                  </a:moveTo>
                  <a:lnTo>
                    <a:pt x="13525500" y="0"/>
                  </a:lnTo>
                  <a:lnTo>
                    <a:pt x="13525500" y="371476"/>
                  </a:lnTo>
                  <a:lnTo>
                    <a:pt x="0" y="37147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59453" r="0" b="-65945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35255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Binary Label Distribution (Train)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458075" y="6086475"/>
            <a:ext cx="10172700" cy="2600325"/>
            <a:chOff x="0" y="0"/>
            <a:chExt cx="13563600" cy="346710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13563600" cy="3467100"/>
            </a:xfrm>
            <a:custGeom>
              <a:avLst/>
              <a:gdLst/>
              <a:ahLst/>
              <a:cxnLst/>
              <a:rect r="r" b="b" t="t" l="l"/>
              <a:pathLst>
                <a:path h="3467100" w="13563600">
                  <a:moveTo>
                    <a:pt x="0" y="0"/>
                  </a:moveTo>
                  <a:lnTo>
                    <a:pt x="13563600" y="0"/>
                  </a:lnTo>
                  <a:lnTo>
                    <a:pt x="13563600" y="3467100"/>
                  </a:lnTo>
                  <a:lnTo>
                    <a:pt x="0" y="3467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28625" y="9629775"/>
            <a:ext cx="2007613" cy="228600"/>
            <a:chOff x="0" y="0"/>
            <a:chExt cx="2676817" cy="304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676822" cy="304800"/>
            </a:xfrm>
            <a:custGeom>
              <a:avLst/>
              <a:gdLst/>
              <a:ahLst/>
              <a:cxnLst/>
              <a:rect r="r" b="b" t="t" l="l"/>
              <a:pathLst>
                <a:path h="304800" w="2676822">
                  <a:moveTo>
                    <a:pt x="0" y="0"/>
                  </a:moveTo>
                  <a:lnTo>
                    <a:pt x="2676822" y="0"/>
                  </a:lnTo>
                  <a:lnTo>
                    <a:pt x="2676822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1121" r="0" b="-12112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2676817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99A1AF"/>
                  </a:solidFill>
                  <a:latin typeface="Arial"/>
                  <a:ea typeface="Arial"/>
                  <a:cs typeface="Arial"/>
                  <a:sym typeface="Arial"/>
                </a:rPr>
                <a:t>MSc Project Presentation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28625" y="428625"/>
            <a:ext cx="506759" cy="400050"/>
            <a:chOff x="0" y="0"/>
            <a:chExt cx="675678" cy="533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5680" cy="533400"/>
            </a:xfrm>
            <a:custGeom>
              <a:avLst/>
              <a:gdLst/>
              <a:ahLst/>
              <a:cxnLst/>
              <a:rect r="r" b="b" t="t" l="l"/>
              <a:pathLst>
                <a:path h="533400" w="675680">
                  <a:moveTo>
                    <a:pt x="0" y="0"/>
                  </a:moveTo>
                  <a:lnTo>
                    <a:pt x="675680" y="0"/>
                  </a:lnTo>
                  <a:lnTo>
                    <a:pt x="67568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1286" t="0" r="-51286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675678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EDA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892386" y="485775"/>
            <a:ext cx="1966989" cy="285750"/>
            <a:chOff x="0" y="0"/>
            <a:chExt cx="2622652" cy="381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22650" cy="381000"/>
            </a:xfrm>
            <a:custGeom>
              <a:avLst/>
              <a:gdLst/>
              <a:ahLst/>
              <a:cxnLst/>
              <a:rect r="r" b="b" t="t" l="l"/>
              <a:pathLst>
                <a:path h="381000" w="2622650">
                  <a:moveTo>
                    <a:pt x="0" y="0"/>
                  </a:moveTo>
                  <a:lnTo>
                    <a:pt x="2622650" y="0"/>
                  </a:lnTo>
                  <a:lnTo>
                    <a:pt x="26226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127" r="0" b="-8412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622652" cy="400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Text Characteristics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28625" y="1493263"/>
            <a:ext cx="6115050" cy="731568"/>
            <a:chOff x="0" y="0"/>
            <a:chExt cx="8153400" cy="9754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53400" cy="975420"/>
            </a:xfrm>
            <a:custGeom>
              <a:avLst/>
              <a:gdLst/>
              <a:ahLst/>
              <a:cxnLst/>
              <a:rect r="r" b="b" t="t" l="l"/>
              <a:pathLst>
                <a:path h="975420" w="8153400">
                  <a:moveTo>
                    <a:pt x="0" y="0"/>
                  </a:moveTo>
                  <a:lnTo>
                    <a:pt x="8153400" y="0"/>
                  </a:lnTo>
                  <a:lnTo>
                    <a:pt x="8153400" y="975420"/>
                  </a:lnTo>
                  <a:lnTo>
                    <a:pt x="0" y="9754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872" r="0" b="-11287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153400" cy="1003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>
                  <a:solidFill>
                    <a:srgbClr val="101828"/>
                  </a:solidFill>
                  <a:latin typeface="Arial"/>
                  <a:ea typeface="Arial"/>
                  <a:cs typeface="Arial"/>
                  <a:sym typeface="Arial"/>
                </a:rPr>
                <a:t>Observations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28625" y="2567730"/>
            <a:ext cx="138189" cy="342900"/>
            <a:chOff x="0" y="0"/>
            <a:chExt cx="184252" cy="457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4250" cy="457200"/>
            </a:xfrm>
            <a:custGeom>
              <a:avLst/>
              <a:gdLst/>
              <a:ahLst/>
              <a:cxnLst/>
              <a:rect r="r" b="b" t="t" l="l"/>
              <a:pathLst>
                <a:path h="457200" w="184250">
                  <a:moveTo>
                    <a:pt x="0" y="0"/>
                  </a:moveTo>
                  <a:lnTo>
                    <a:pt x="184250" y="0"/>
                  </a:lnTo>
                  <a:lnTo>
                    <a:pt x="1842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8373" t="0" r="-268374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84252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002FA7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38264" y="2531576"/>
            <a:ext cx="6248324" cy="790230"/>
            <a:chOff x="0" y="0"/>
            <a:chExt cx="7644105" cy="9667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44110" cy="966755"/>
            </a:xfrm>
            <a:custGeom>
              <a:avLst/>
              <a:gdLst/>
              <a:ahLst/>
              <a:cxnLst/>
              <a:rect r="r" b="b" t="t" l="l"/>
              <a:pathLst>
                <a:path h="966755" w="7644110">
                  <a:moveTo>
                    <a:pt x="0" y="0"/>
                  </a:moveTo>
                  <a:lnTo>
                    <a:pt x="7644110" y="0"/>
                  </a:lnTo>
                  <a:lnTo>
                    <a:pt x="7644110" y="966755"/>
                  </a:lnTo>
                  <a:lnTo>
                    <a:pt x="0" y="9667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2007" r="0" b="-7612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7644105" cy="976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249">
                  <a:solidFill>
                    <a:srgbClr val="4A5565"/>
                  </a:solidFill>
                  <a:latin typeface="Arial"/>
                  <a:ea typeface="Arial"/>
                  <a:cs typeface="Arial"/>
                  <a:sym typeface="Arial"/>
                </a:rPr>
                <a:t>Visual comparison of length/word-count distributions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28625" y="3681854"/>
            <a:ext cx="138189" cy="342900"/>
            <a:chOff x="0" y="0"/>
            <a:chExt cx="184252" cy="457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4250" cy="457200"/>
            </a:xfrm>
            <a:custGeom>
              <a:avLst/>
              <a:gdLst/>
              <a:ahLst/>
              <a:cxnLst/>
              <a:rect r="r" b="b" t="t" l="l"/>
              <a:pathLst>
                <a:path h="457200" w="184250">
                  <a:moveTo>
                    <a:pt x="0" y="0"/>
                  </a:moveTo>
                  <a:lnTo>
                    <a:pt x="184250" y="0"/>
                  </a:lnTo>
                  <a:lnTo>
                    <a:pt x="1842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8373" t="0" r="-268374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84252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002FA7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04901" y="3681854"/>
            <a:ext cx="5805411" cy="722104"/>
            <a:chOff x="0" y="0"/>
            <a:chExt cx="7740548" cy="96280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740550" cy="962803"/>
            </a:xfrm>
            <a:custGeom>
              <a:avLst/>
              <a:gdLst/>
              <a:ahLst/>
              <a:cxnLst/>
              <a:rect r="r" b="b" t="t" l="l"/>
              <a:pathLst>
                <a:path h="962803" w="7740550">
                  <a:moveTo>
                    <a:pt x="0" y="0"/>
                  </a:moveTo>
                  <a:lnTo>
                    <a:pt x="7740550" y="0"/>
                  </a:lnTo>
                  <a:lnTo>
                    <a:pt x="7740550" y="962803"/>
                  </a:lnTo>
                  <a:lnTo>
                    <a:pt x="0" y="9628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349" r="0" b="-10095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7740548" cy="972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A5565"/>
                  </a:solidFill>
                  <a:latin typeface="Arial"/>
                  <a:ea typeface="Arial"/>
                  <a:cs typeface="Arial"/>
                  <a:sym typeface="Arial"/>
                </a:rPr>
                <a:t>Fake news often uses simpler language and emotional tone (hypothesis to test)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000875" y="1493263"/>
            <a:ext cx="10858500" cy="371256"/>
            <a:chOff x="0" y="0"/>
            <a:chExt cx="14478000" cy="4950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478000" cy="495002"/>
            </a:xfrm>
            <a:custGeom>
              <a:avLst/>
              <a:gdLst/>
              <a:ahLst/>
              <a:cxnLst/>
              <a:rect r="r" b="b" t="t" l="l"/>
              <a:pathLst>
                <a:path h="495002" w="14478000">
                  <a:moveTo>
                    <a:pt x="0" y="0"/>
                  </a:moveTo>
                  <a:lnTo>
                    <a:pt x="14478000" y="0"/>
                  </a:lnTo>
                  <a:lnTo>
                    <a:pt x="14478000" y="495002"/>
                  </a:lnTo>
                  <a:lnTo>
                    <a:pt x="0" y="4950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9904" r="0" b="-51990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4478000" cy="514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Statement Length Distribution by Label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986588" y="1957388"/>
            <a:ext cx="10029825" cy="3186112"/>
            <a:chOff x="0" y="0"/>
            <a:chExt cx="13373100" cy="424815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3373100" cy="4248150"/>
            </a:xfrm>
            <a:custGeom>
              <a:avLst/>
              <a:gdLst/>
              <a:ahLst/>
              <a:cxnLst/>
              <a:rect r="r" b="b" t="t" l="l"/>
              <a:pathLst>
                <a:path h="4248150" w="13373100">
                  <a:moveTo>
                    <a:pt x="0" y="0"/>
                  </a:moveTo>
                  <a:lnTo>
                    <a:pt x="13373100" y="0"/>
                  </a:lnTo>
                  <a:lnTo>
                    <a:pt x="13373100" y="4248150"/>
                  </a:lnTo>
                  <a:lnTo>
                    <a:pt x="0" y="424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000875" y="5464969"/>
            <a:ext cx="10858500" cy="371256"/>
            <a:chOff x="0" y="0"/>
            <a:chExt cx="14478000" cy="49500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478000" cy="495002"/>
            </a:xfrm>
            <a:custGeom>
              <a:avLst/>
              <a:gdLst/>
              <a:ahLst/>
              <a:cxnLst/>
              <a:rect r="r" b="b" t="t" l="l"/>
              <a:pathLst>
                <a:path h="495002" w="14478000">
                  <a:moveTo>
                    <a:pt x="0" y="0"/>
                  </a:moveTo>
                  <a:lnTo>
                    <a:pt x="14478000" y="0"/>
                  </a:lnTo>
                  <a:lnTo>
                    <a:pt x="14478000" y="495002"/>
                  </a:lnTo>
                  <a:lnTo>
                    <a:pt x="0" y="4950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9904" r="0" b="-51990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4478000" cy="514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Word Count Distribution by Label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986588" y="5929312"/>
            <a:ext cx="10029825" cy="3186112"/>
            <a:chOff x="0" y="0"/>
            <a:chExt cx="13373100" cy="424815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13373100" cy="4248150"/>
            </a:xfrm>
            <a:custGeom>
              <a:avLst/>
              <a:gdLst/>
              <a:ahLst/>
              <a:cxnLst/>
              <a:rect r="r" b="b" t="t" l="l"/>
              <a:pathLst>
                <a:path h="4248150" w="13373100">
                  <a:moveTo>
                    <a:pt x="0" y="0"/>
                  </a:moveTo>
                  <a:lnTo>
                    <a:pt x="13373100" y="0"/>
                  </a:lnTo>
                  <a:lnTo>
                    <a:pt x="13373100" y="4248150"/>
                  </a:lnTo>
                  <a:lnTo>
                    <a:pt x="0" y="424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71588" y="1928812"/>
            <a:ext cx="7429500" cy="3043238"/>
            <a:chOff x="0" y="0"/>
            <a:chExt cx="9906000" cy="405765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906000" cy="4057650"/>
            </a:xfrm>
            <a:custGeom>
              <a:avLst/>
              <a:gdLst/>
              <a:ahLst/>
              <a:cxnLst/>
              <a:rect r="r" b="b" t="t" l="l"/>
              <a:pathLst>
                <a:path h="405765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4057650"/>
                  </a:lnTo>
                  <a:lnTo>
                    <a:pt x="0" y="405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586912" y="1928812"/>
            <a:ext cx="7429500" cy="3043238"/>
            <a:chOff x="0" y="0"/>
            <a:chExt cx="9906000" cy="405765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906000" cy="4057650"/>
            </a:xfrm>
            <a:custGeom>
              <a:avLst/>
              <a:gdLst/>
              <a:ahLst/>
              <a:cxnLst/>
              <a:rect r="r" b="b" t="t" l="l"/>
              <a:pathLst>
                <a:path h="405765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4057650"/>
                  </a:lnTo>
                  <a:lnTo>
                    <a:pt x="0" y="405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71588" y="5614988"/>
            <a:ext cx="7429500" cy="3043238"/>
            <a:chOff x="0" y="0"/>
            <a:chExt cx="9906000" cy="405765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9906000" cy="4057650"/>
            </a:xfrm>
            <a:custGeom>
              <a:avLst/>
              <a:gdLst/>
              <a:ahLst/>
              <a:cxnLst/>
              <a:rect r="r" b="b" t="t" l="l"/>
              <a:pathLst>
                <a:path h="405765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4057650"/>
                  </a:lnTo>
                  <a:lnTo>
                    <a:pt x="0" y="405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586912" y="5614988"/>
            <a:ext cx="7429500" cy="3043238"/>
            <a:chOff x="0" y="0"/>
            <a:chExt cx="9906000" cy="405765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9906000" cy="4057650"/>
            </a:xfrm>
            <a:custGeom>
              <a:avLst/>
              <a:gdLst/>
              <a:ahLst/>
              <a:cxnLst/>
              <a:rect r="r" b="b" t="t" l="l"/>
              <a:pathLst>
                <a:path h="405765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4057650"/>
                  </a:lnTo>
                  <a:lnTo>
                    <a:pt x="0" y="405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57068" y="527630"/>
            <a:ext cx="4129270" cy="486782"/>
            <a:chOff x="0" y="0"/>
            <a:chExt cx="4858639" cy="5727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58638" cy="572765"/>
            </a:xfrm>
            <a:custGeom>
              <a:avLst/>
              <a:gdLst/>
              <a:ahLst/>
              <a:cxnLst/>
              <a:rect r="r" b="b" t="t" l="l"/>
              <a:pathLst>
                <a:path h="572765" w="4858638">
                  <a:moveTo>
                    <a:pt x="0" y="0"/>
                  </a:moveTo>
                  <a:lnTo>
                    <a:pt x="4858638" y="0"/>
                  </a:lnTo>
                  <a:lnTo>
                    <a:pt x="4858638" y="572765"/>
                  </a:lnTo>
                  <a:lnTo>
                    <a:pt x="0" y="57276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163" r="18489" b="-8129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4858639" cy="5918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FEATURE ENGINEERING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43062" y="2300288"/>
            <a:ext cx="6686550" cy="528638"/>
            <a:chOff x="0" y="0"/>
            <a:chExt cx="8915400" cy="70485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8915400" cy="704850"/>
            </a:xfrm>
            <a:custGeom>
              <a:avLst/>
              <a:gdLst/>
              <a:ahLst/>
              <a:cxnLst/>
              <a:rect r="r" b="b" t="t" l="l"/>
              <a:pathLst>
                <a:path h="704850" w="8915400">
                  <a:moveTo>
                    <a:pt x="0" y="0"/>
                  </a:moveTo>
                  <a:lnTo>
                    <a:pt x="8915400" y="0"/>
                  </a:lnTo>
                  <a:lnTo>
                    <a:pt x="8915400" y="704850"/>
                  </a:lnTo>
                  <a:lnTo>
                    <a:pt x="0" y="704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43062" y="2228057"/>
            <a:ext cx="6657975" cy="427037"/>
            <a:chOff x="0" y="0"/>
            <a:chExt cx="8877300" cy="56938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877300" cy="569383"/>
            </a:xfrm>
            <a:custGeom>
              <a:avLst/>
              <a:gdLst/>
              <a:ahLst/>
              <a:cxnLst/>
              <a:rect r="r" b="b" t="t" l="l"/>
              <a:pathLst>
                <a:path h="569383" w="8877300">
                  <a:moveTo>
                    <a:pt x="0" y="0"/>
                  </a:moveTo>
                  <a:lnTo>
                    <a:pt x="8877300" y="0"/>
                  </a:lnTo>
                  <a:lnTo>
                    <a:pt x="8877300" y="569383"/>
                  </a:lnTo>
                  <a:lnTo>
                    <a:pt x="0" y="5693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0298" r="0" b="-24728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8877300" cy="62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sz="2349" b="true">
                  <a:solidFill>
                    <a:srgbClr val="111827"/>
                  </a:solidFill>
                  <a:latin typeface="Old Standard Bold"/>
                  <a:ea typeface="Old Standard Bold"/>
                  <a:cs typeface="Old Standard Bold"/>
                  <a:sym typeface="Old Standard Bold"/>
                </a:rPr>
                <a:t>Text Vectorization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085975" y="3036094"/>
            <a:ext cx="6229350" cy="800100"/>
            <a:chOff x="0" y="0"/>
            <a:chExt cx="8305800" cy="1066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305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8305800">
                  <a:moveTo>
                    <a:pt x="0" y="0"/>
                  </a:moveTo>
                  <a:lnTo>
                    <a:pt x="8305800" y="0"/>
                  </a:lnTo>
                  <a:lnTo>
                    <a:pt x="83058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1704" r="0" b="-10170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8305800" cy="1076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01828"/>
                  </a:solidFill>
                  <a:latin typeface="Arial"/>
                  <a:ea typeface="Arial"/>
                  <a:cs typeface="Arial"/>
                  <a:sym typeface="Arial"/>
                </a:rPr>
                <a:t>TF-IDF (Term Frequency–Inverse Document Frequency)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958388" y="2300288"/>
            <a:ext cx="6686550" cy="528638"/>
            <a:chOff x="0" y="0"/>
            <a:chExt cx="8915400" cy="70485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8915400" cy="704850"/>
            </a:xfrm>
            <a:custGeom>
              <a:avLst/>
              <a:gdLst/>
              <a:ahLst/>
              <a:cxnLst/>
              <a:rect r="r" b="b" t="t" l="l"/>
              <a:pathLst>
                <a:path h="704850" w="8915400">
                  <a:moveTo>
                    <a:pt x="0" y="0"/>
                  </a:moveTo>
                  <a:lnTo>
                    <a:pt x="8915400" y="0"/>
                  </a:lnTo>
                  <a:lnTo>
                    <a:pt x="8915400" y="704850"/>
                  </a:lnTo>
                  <a:lnTo>
                    <a:pt x="0" y="704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972675" y="2321719"/>
            <a:ext cx="6657975" cy="392112"/>
            <a:chOff x="0" y="0"/>
            <a:chExt cx="8877300" cy="5228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877300" cy="522816"/>
            </a:xfrm>
            <a:custGeom>
              <a:avLst/>
              <a:gdLst/>
              <a:ahLst/>
              <a:cxnLst/>
              <a:rect r="r" b="b" t="t" l="l"/>
              <a:pathLst>
                <a:path h="522816" w="8877300">
                  <a:moveTo>
                    <a:pt x="0" y="0"/>
                  </a:moveTo>
                  <a:lnTo>
                    <a:pt x="8877300" y="0"/>
                  </a:lnTo>
                  <a:lnTo>
                    <a:pt x="8877300" y="522816"/>
                  </a:lnTo>
                  <a:lnTo>
                    <a:pt x="0" y="5228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483" r="0" b="-27822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8877300" cy="57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 b="true">
                  <a:solidFill>
                    <a:srgbClr val="111827"/>
                  </a:solidFill>
                  <a:latin typeface="Old Standard Bold"/>
                  <a:ea typeface="Old Standard Bold"/>
                  <a:cs typeface="Old Standard Bold"/>
                  <a:sym typeface="Old Standard Bold"/>
                </a:rPr>
                <a:t>Linguistic features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315575" y="3036094"/>
            <a:ext cx="2175272" cy="429574"/>
            <a:chOff x="0" y="0"/>
            <a:chExt cx="2900362" cy="57276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900362" cy="572765"/>
            </a:xfrm>
            <a:custGeom>
              <a:avLst/>
              <a:gdLst/>
              <a:ahLst/>
              <a:cxnLst/>
              <a:rect r="r" b="b" t="t" l="l"/>
              <a:pathLst>
                <a:path h="572765" w="2900362">
                  <a:moveTo>
                    <a:pt x="0" y="0"/>
                  </a:moveTo>
                  <a:lnTo>
                    <a:pt x="2900362" y="0"/>
                  </a:lnTo>
                  <a:lnTo>
                    <a:pt x="2900362" y="572765"/>
                  </a:lnTo>
                  <a:lnTo>
                    <a:pt x="0" y="57276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2104" r="0" b="-4523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900362" cy="582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01828"/>
                  </a:solidFill>
                  <a:latin typeface="Arial"/>
                  <a:ea typeface="Arial"/>
                  <a:cs typeface="Arial"/>
                  <a:sym typeface="Arial"/>
                </a:rPr>
                <a:t>Sentence length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372725" y="3607594"/>
            <a:ext cx="2288010" cy="429574"/>
            <a:chOff x="0" y="0"/>
            <a:chExt cx="3050680" cy="57276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050678" cy="572765"/>
            </a:xfrm>
            <a:custGeom>
              <a:avLst/>
              <a:gdLst/>
              <a:ahLst/>
              <a:cxnLst/>
              <a:rect r="r" b="b" t="t" l="l"/>
              <a:pathLst>
                <a:path h="572765" w="3050678">
                  <a:moveTo>
                    <a:pt x="0" y="0"/>
                  </a:moveTo>
                  <a:lnTo>
                    <a:pt x="3050678" y="0"/>
                  </a:lnTo>
                  <a:lnTo>
                    <a:pt x="3050678" y="572765"/>
                  </a:lnTo>
                  <a:lnTo>
                    <a:pt x="0" y="57276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218" r="0" b="-5034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3050680" cy="582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01828"/>
                  </a:solidFill>
                  <a:latin typeface="Arial"/>
                  <a:ea typeface="Arial"/>
                  <a:cs typeface="Arial"/>
                  <a:sym typeface="Arial"/>
                </a:rPr>
                <a:t>Readability index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329862" y="4179094"/>
            <a:ext cx="2514600" cy="429574"/>
            <a:chOff x="0" y="0"/>
            <a:chExt cx="3352800" cy="57276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352800" cy="572765"/>
            </a:xfrm>
            <a:custGeom>
              <a:avLst/>
              <a:gdLst/>
              <a:ahLst/>
              <a:cxnLst/>
              <a:rect r="r" b="b" t="t" l="l"/>
              <a:pathLst>
                <a:path h="572765" w="3352800">
                  <a:moveTo>
                    <a:pt x="0" y="0"/>
                  </a:moveTo>
                  <a:lnTo>
                    <a:pt x="3352800" y="0"/>
                  </a:lnTo>
                  <a:lnTo>
                    <a:pt x="3352800" y="572765"/>
                  </a:lnTo>
                  <a:lnTo>
                    <a:pt x="0" y="57276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7496" r="0" b="-6062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3352800" cy="582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01828"/>
                  </a:solidFill>
                  <a:latin typeface="Arial"/>
                  <a:ea typeface="Arial"/>
                  <a:cs typeface="Arial"/>
                  <a:sym typeface="Arial"/>
                </a:rPr>
                <a:t>Punctuation usage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643062" y="5986462"/>
            <a:ext cx="6686550" cy="528638"/>
            <a:chOff x="0" y="0"/>
            <a:chExt cx="8915400" cy="704850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8915400" cy="704850"/>
            </a:xfrm>
            <a:custGeom>
              <a:avLst/>
              <a:gdLst/>
              <a:ahLst/>
              <a:cxnLst/>
              <a:rect r="r" b="b" t="t" l="l"/>
              <a:pathLst>
                <a:path h="704850" w="8915400">
                  <a:moveTo>
                    <a:pt x="0" y="0"/>
                  </a:moveTo>
                  <a:lnTo>
                    <a:pt x="8915400" y="0"/>
                  </a:lnTo>
                  <a:lnTo>
                    <a:pt x="8915400" y="704850"/>
                  </a:lnTo>
                  <a:lnTo>
                    <a:pt x="0" y="704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57350" y="6007894"/>
            <a:ext cx="6657975" cy="371475"/>
            <a:chOff x="0" y="0"/>
            <a:chExt cx="8877300" cy="4953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877300" cy="495300"/>
            </a:xfrm>
            <a:custGeom>
              <a:avLst/>
              <a:gdLst/>
              <a:ahLst/>
              <a:cxnLst/>
              <a:rect r="r" b="b" t="t" l="l"/>
              <a:pathLst>
                <a:path h="495300" w="8877300">
                  <a:moveTo>
                    <a:pt x="0" y="0"/>
                  </a:moveTo>
                  <a:lnTo>
                    <a:pt x="8877300" y="0"/>
                  </a:lnTo>
                  <a:lnTo>
                    <a:pt x="887730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9231" r="0" b="-29923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88773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9"/>
                </a:lnSpc>
              </a:pPr>
              <a:r>
                <a:rPr lang="en-US" sz="2049" b="true">
                  <a:solidFill>
                    <a:srgbClr val="111827"/>
                  </a:solidFill>
                  <a:latin typeface="Old Standard Bold"/>
                  <a:ea typeface="Old Standard Bold"/>
                  <a:cs typeface="Old Standard Bold"/>
                  <a:sym typeface="Old Standard Bold"/>
                </a:rPr>
                <a:t>Custom ratios &amp; counts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985962" y="6722269"/>
            <a:ext cx="2086642" cy="429574"/>
            <a:chOff x="0" y="0"/>
            <a:chExt cx="2782189" cy="57276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782192" cy="572765"/>
            </a:xfrm>
            <a:custGeom>
              <a:avLst/>
              <a:gdLst/>
              <a:ahLst/>
              <a:cxnLst/>
              <a:rect r="r" b="b" t="t" l="l"/>
              <a:pathLst>
                <a:path h="572765" w="2782192">
                  <a:moveTo>
                    <a:pt x="0" y="0"/>
                  </a:moveTo>
                  <a:lnTo>
                    <a:pt x="2782192" y="0"/>
                  </a:lnTo>
                  <a:lnTo>
                    <a:pt x="2782192" y="572765"/>
                  </a:lnTo>
                  <a:lnTo>
                    <a:pt x="0" y="57276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8084" r="0" b="-4121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2782189" cy="582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01828"/>
                  </a:solidFill>
                  <a:latin typeface="Arial"/>
                  <a:ea typeface="Arial"/>
                  <a:cs typeface="Arial"/>
                  <a:sym typeface="Arial"/>
                </a:rPr>
                <a:t>deception_ratio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028825" y="7293769"/>
            <a:ext cx="1426959" cy="429574"/>
            <a:chOff x="0" y="0"/>
            <a:chExt cx="1902612" cy="57276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02618" cy="572765"/>
            </a:xfrm>
            <a:custGeom>
              <a:avLst/>
              <a:gdLst/>
              <a:ahLst/>
              <a:cxnLst/>
              <a:rect r="r" b="b" t="t" l="l"/>
              <a:pathLst>
                <a:path h="572765" w="1902618">
                  <a:moveTo>
                    <a:pt x="0" y="0"/>
                  </a:moveTo>
                  <a:lnTo>
                    <a:pt x="1902618" y="0"/>
                  </a:lnTo>
                  <a:lnTo>
                    <a:pt x="1902618" y="572765"/>
                  </a:lnTo>
                  <a:lnTo>
                    <a:pt x="0" y="57276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161" r="0" b="-1128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1902612" cy="582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01828"/>
                  </a:solidFill>
                  <a:latin typeface="Arial"/>
                  <a:ea typeface="Arial"/>
                  <a:cs typeface="Arial"/>
                  <a:sym typeface="Arial"/>
                </a:rPr>
                <a:t>truth_ratio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000250" y="7865269"/>
            <a:ext cx="1968551" cy="429574"/>
            <a:chOff x="0" y="0"/>
            <a:chExt cx="2624734" cy="57276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624732" cy="572765"/>
            </a:xfrm>
            <a:custGeom>
              <a:avLst/>
              <a:gdLst/>
              <a:ahLst/>
              <a:cxnLst/>
              <a:rect r="r" b="b" t="t" l="l"/>
              <a:pathLst>
                <a:path h="572765" w="2624732">
                  <a:moveTo>
                    <a:pt x="0" y="0"/>
                  </a:moveTo>
                  <a:lnTo>
                    <a:pt x="2624732" y="0"/>
                  </a:lnTo>
                  <a:lnTo>
                    <a:pt x="2624732" y="572765"/>
                  </a:lnTo>
                  <a:lnTo>
                    <a:pt x="0" y="57276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2727" r="0" b="-3585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2624734" cy="582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01828"/>
                  </a:solidFill>
                  <a:latin typeface="Arial"/>
                  <a:ea typeface="Arial"/>
                  <a:cs typeface="Arial"/>
                  <a:sym typeface="Arial"/>
                </a:rPr>
                <a:t>number_count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958388" y="5986462"/>
            <a:ext cx="6686550" cy="528638"/>
            <a:chOff x="0" y="0"/>
            <a:chExt cx="8915400" cy="704850"/>
          </a:xfrm>
        </p:grpSpPr>
        <p:sp>
          <p:nvSpPr>
            <p:cNvPr name="Freeform 54" id="54" descr="preencoded.png"/>
            <p:cNvSpPr/>
            <p:nvPr/>
          </p:nvSpPr>
          <p:spPr>
            <a:xfrm flipH="false" flipV="false" rot="0">
              <a:off x="0" y="0"/>
              <a:ext cx="8915400" cy="704850"/>
            </a:xfrm>
            <a:custGeom>
              <a:avLst/>
              <a:gdLst/>
              <a:ahLst/>
              <a:cxnLst/>
              <a:rect r="r" b="b" t="t" l="l"/>
              <a:pathLst>
                <a:path h="704850" w="8915400">
                  <a:moveTo>
                    <a:pt x="0" y="0"/>
                  </a:moveTo>
                  <a:lnTo>
                    <a:pt x="8915400" y="0"/>
                  </a:lnTo>
                  <a:lnTo>
                    <a:pt x="8915400" y="704850"/>
                  </a:lnTo>
                  <a:lnTo>
                    <a:pt x="0" y="704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972675" y="6007894"/>
            <a:ext cx="6657975" cy="371475"/>
            <a:chOff x="0" y="0"/>
            <a:chExt cx="8877300" cy="4953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877300" cy="495300"/>
            </a:xfrm>
            <a:custGeom>
              <a:avLst/>
              <a:gdLst/>
              <a:ahLst/>
              <a:cxnLst/>
              <a:rect r="r" b="b" t="t" l="l"/>
              <a:pathLst>
                <a:path h="495300" w="8877300">
                  <a:moveTo>
                    <a:pt x="0" y="0"/>
                  </a:moveTo>
                  <a:lnTo>
                    <a:pt x="8877300" y="0"/>
                  </a:lnTo>
                  <a:lnTo>
                    <a:pt x="887730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9231" r="0" b="-29923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88773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9"/>
                </a:lnSpc>
              </a:pPr>
              <a:r>
                <a:rPr lang="en-US" sz="2049" b="true">
                  <a:solidFill>
                    <a:srgbClr val="111827"/>
                  </a:solidFill>
                  <a:latin typeface="Old Standard Bold"/>
                  <a:ea typeface="Old Standard Bold"/>
                  <a:cs typeface="Old Standard Bold"/>
                  <a:sym typeface="Old Standard Bold"/>
                </a:rPr>
                <a:t>Metadata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344150" y="6722269"/>
            <a:ext cx="5005092" cy="429574"/>
            <a:chOff x="0" y="0"/>
            <a:chExt cx="6673456" cy="57276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673454" cy="572765"/>
            </a:xfrm>
            <a:custGeom>
              <a:avLst/>
              <a:gdLst/>
              <a:ahLst/>
              <a:cxnLst/>
              <a:rect r="r" b="b" t="t" l="l"/>
              <a:pathLst>
                <a:path h="572765" w="6673454">
                  <a:moveTo>
                    <a:pt x="0" y="0"/>
                  </a:moveTo>
                  <a:lnTo>
                    <a:pt x="6673454" y="0"/>
                  </a:lnTo>
                  <a:lnTo>
                    <a:pt x="6673454" y="572765"/>
                  </a:lnTo>
                  <a:lnTo>
                    <a:pt x="0" y="57276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0462" r="0" b="-17358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6673456" cy="582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01828"/>
                  </a:solidFill>
                  <a:latin typeface="Arial"/>
                  <a:ea typeface="Arial"/>
                  <a:cs typeface="Arial"/>
                  <a:sym typeface="Arial"/>
                </a:rPr>
                <a:t>Credit history features (speaker-level)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14512" y="3657600"/>
            <a:ext cx="4600575" cy="3214688"/>
            <a:chOff x="0" y="0"/>
            <a:chExt cx="6134100" cy="428625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6134100" cy="4286250"/>
            </a:xfrm>
            <a:custGeom>
              <a:avLst/>
              <a:gdLst/>
              <a:ahLst/>
              <a:cxnLst/>
              <a:rect r="r" b="b" t="t" l="l"/>
              <a:pathLst>
                <a:path h="4286250" w="6134100">
                  <a:moveTo>
                    <a:pt x="0" y="0"/>
                  </a:moveTo>
                  <a:lnTo>
                    <a:pt x="6134100" y="0"/>
                  </a:lnTo>
                  <a:lnTo>
                    <a:pt x="6134100" y="4286250"/>
                  </a:lnTo>
                  <a:lnTo>
                    <a:pt x="0" y="428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843712" y="3657600"/>
            <a:ext cx="4600575" cy="3214688"/>
            <a:chOff x="0" y="0"/>
            <a:chExt cx="6134100" cy="428625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6134100" cy="4286250"/>
            </a:xfrm>
            <a:custGeom>
              <a:avLst/>
              <a:gdLst/>
              <a:ahLst/>
              <a:cxnLst/>
              <a:rect r="r" b="b" t="t" l="l"/>
              <a:pathLst>
                <a:path h="4286250" w="6134100">
                  <a:moveTo>
                    <a:pt x="0" y="0"/>
                  </a:moveTo>
                  <a:lnTo>
                    <a:pt x="6134100" y="0"/>
                  </a:lnTo>
                  <a:lnTo>
                    <a:pt x="6134100" y="4286250"/>
                  </a:lnTo>
                  <a:lnTo>
                    <a:pt x="0" y="428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72912" y="3657600"/>
            <a:ext cx="4600575" cy="3214688"/>
            <a:chOff x="0" y="0"/>
            <a:chExt cx="6134100" cy="428625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6134100" cy="4286250"/>
            </a:xfrm>
            <a:custGeom>
              <a:avLst/>
              <a:gdLst/>
              <a:ahLst/>
              <a:cxnLst/>
              <a:rect r="r" b="b" t="t" l="l"/>
              <a:pathLst>
                <a:path h="4286250" w="6134100">
                  <a:moveTo>
                    <a:pt x="0" y="0"/>
                  </a:moveTo>
                  <a:lnTo>
                    <a:pt x="6134100" y="0"/>
                  </a:lnTo>
                  <a:lnTo>
                    <a:pt x="6134100" y="4286250"/>
                  </a:lnTo>
                  <a:lnTo>
                    <a:pt x="0" y="428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28625" y="428625"/>
            <a:ext cx="1068657" cy="400050"/>
            <a:chOff x="0" y="0"/>
            <a:chExt cx="1424876" cy="533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24880" cy="533400"/>
            </a:xfrm>
            <a:custGeom>
              <a:avLst/>
              <a:gdLst/>
              <a:ahLst/>
              <a:cxnLst/>
              <a:rect r="r" b="b" t="t" l="l"/>
              <a:pathLst>
                <a:path h="533400" w="1424880">
                  <a:moveTo>
                    <a:pt x="0" y="0"/>
                  </a:moveTo>
                  <a:lnTo>
                    <a:pt x="1424880" y="0"/>
                  </a:lnTo>
                  <a:lnTo>
                    <a:pt x="142488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0" r="0" b="-20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424876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MODELS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627963" y="2208851"/>
            <a:ext cx="3430562" cy="868673"/>
            <a:chOff x="0" y="0"/>
            <a:chExt cx="4574083" cy="11582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74085" cy="1158230"/>
            </a:xfrm>
            <a:custGeom>
              <a:avLst/>
              <a:gdLst/>
              <a:ahLst/>
              <a:cxnLst/>
              <a:rect r="r" b="b" t="t" l="l"/>
              <a:pathLst>
                <a:path h="1158230" w="4574085">
                  <a:moveTo>
                    <a:pt x="0" y="0"/>
                  </a:moveTo>
                  <a:lnTo>
                    <a:pt x="4574085" y="0"/>
                  </a:lnTo>
                  <a:lnTo>
                    <a:pt x="4574085" y="1158230"/>
                  </a:lnTo>
                  <a:lnTo>
                    <a:pt x="0" y="11582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537" r="11615" b="-748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574083" cy="117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101828"/>
                  </a:solidFill>
                  <a:latin typeface="Arial"/>
                  <a:ea typeface="Arial"/>
                  <a:cs typeface="Arial"/>
                  <a:sym typeface="Arial"/>
                </a:rPr>
                <a:t>Models Used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200275" y="4043362"/>
            <a:ext cx="3829050" cy="371475"/>
            <a:chOff x="0" y="0"/>
            <a:chExt cx="5105400" cy="495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05400" cy="495300"/>
            </a:xfrm>
            <a:custGeom>
              <a:avLst/>
              <a:gdLst/>
              <a:ahLst/>
              <a:cxnLst/>
              <a:rect r="r" b="b" t="t" l="l"/>
              <a:pathLst>
                <a:path h="495300" w="5105400">
                  <a:moveTo>
                    <a:pt x="0" y="0"/>
                  </a:moveTo>
                  <a:lnTo>
                    <a:pt x="5105400" y="0"/>
                  </a:lnTo>
                  <a:lnTo>
                    <a:pt x="510540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50845" r="0" b="-15084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510540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02FA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Traditional ML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886200" y="4714875"/>
            <a:ext cx="457200" cy="457200"/>
            <a:chOff x="0" y="0"/>
            <a:chExt cx="609600" cy="6096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878264" y="5386388"/>
            <a:ext cx="2473081" cy="385762"/>
            <a:chOff x="0" y="0"/>
            <a:chExt cx="3297441" cy="5143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97436" cy="514350"/>
            </a:xfrm>
            <a:custGeom>
              <a:avLst/>
              <a:gdLst/>
              <a:ahLst/>
              <a:cxnLst/>
              <a:rect r="r" b="b" t="t" l="l"/>
              <a:pathLst>
                <a:path h="514350" w="3297436">
                  <a:moveTo>
                    <a:pt x="0" y="0"/>
                  </a:moveTo>
                  <a:lnTo>
                    <a:pt x="3297436" y="0"/>
                  </a:lnTo>
                  <a:lnTo>
                    <a:pt x="3297436" y="514350"/>
                  </a:lnTo>
                  <a:lnTo>
                    <a:pt x="0" y="5143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4916" r="0" b="-7491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3297441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Logistic Regression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200275" y="5886450"/>
            <a:ext cx="3829050" cy="600075"/>
            <a:chOff x="0" y="0"/>
            <a:chExt cx="5105400" cy="800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05400" cy="800100"/>
            </a:xfrm>
            <a:custGeom>
              <a:avLst/>
              <a:gdLst/>
              <a:ahLst/>
              <a:cxnLst/>
              <a:rect r="r" b="b" t="t" l="l"/>
              <a:pathLst>
                <a:path h="800100" w="5105400">
                  <a:moveTo>
                    <a:pt x="0" y="0"/>
                  </a:moveTo>
                  <a:lnTo>
                    <a:pt x="5105400" y="0"/>
                  </a:lnTo>
                  <a:lnTo>
                    <a:pt x="510540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4333" r="0" b="-7433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5105400" cy="81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4A5565"/>
                  </a:solidFill>
                  <a:latin typeface="Arial"/>
                  <a:ea typeface="Arial"/>
                  <a:cs typeface="Arial"/>
                  <a:sym typeface="Arial"/>
                </a:rPr>
                <a:t>Traditional ML baseline model using linear classification.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229475" y="4043362"/>
            <a:ext cx="3829050" cy="371475"/>
            <a:chOff x="0" y="0"/>
            <a:chExt cx="5105400" cy="4953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05400" cy="495300"/>
            </a:xfrm>
            <a:custGeom>
              <a:avLst/>
              <a:gdLst/>
              <a:ahLst/>
              <a:cxnLst/>
              <a:rect r="r" b="b" t="t" l="l"/>
              <a:pathLst>
                <a:path h="495300" w="5105400">
                  <a:moveTo>
                    <a:pt x="0" y="0"/>
                  </a:moveTo>
                  <a:lnTo>
                    <a:pt x="5105400" y="0"/>
                  </a:lnTo>
                  <a:lnTo>
                    <a:pt x="510540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50845" r="0" b="-15084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510540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02FA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Traditional ML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886825" y="4714875"/>
            <a:ext cx="514350" cy="457200"/>
            <a:chOff x="0" y="0"/>
            <a:chExt cx="685800" cy="6096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685800" cy="609600"/>
            </a:xfrm>
            <a:custGeom>
              <a:avLst/>
              <a:gdLst/>
              <a:ahLst/>
              <a:cxnLst/>
              <a:rect r="r" b="b" t="t" l="l"/>
              <a:pathLst>
                <a:path h="6096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976664" y="5386388"/>
            <a:ext cx="2334663" cy="385762"/>
            <a:chOff x="0" y="0"/>
            <a:chExt cx="3112884" cy="5143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112890" cy="514350"/>
            </a:xfrm>
            <a:custGeom>
              <a:avLst/>
              <a:gdLst/>
              <a:ahLst/>
              <a:cxnLst/>
              <a:rect r="r" b="b" t="t" l="l"/>
              <a:pathLst>
                <a:path h="514350" w="3112890">
                  <a:moveTo>
                    <a:pt x="0" y="0"/>
                  </a:moveTo>
                  <a:lnTo>
                    <a:pt x="3112890" y="0"/>
                  </a:lnTo>
                  <a:lnTo>
                    <a:pt x="3112890" y="514350"/>
                  </a:lnTo>
                  <a:lnTo>
                    <a:pt x="0" y="5143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7924" r="0" b="-6792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3112884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Gradient Boosting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229475" y="5886450"/>
            <a:ext cx="3829050" cy="600075"/>
            <a:chOff x="0" y="0"/>
            <a:chExt cx="5105400" cy="8001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05400" cy="800100"/>
            </a:xfrm>
            <a:custGeom>
              <a:avLst/>
              <a:gdLst/>
              <a:ahLst/>
              <a:cxnLst/>
              <a:rect r="r" b="b" t="t" l="l"/>
              <a:pathLst>
                <a:path h="800100" w="5105400">
                  <a:moveTo>
                    <a:pt x="0" y="0"/>
                  </a:moveTo>
                  <a:lnTo>
                    <a:pt x="5105400" y="0"/>
                  </a:lnTo>
                  <a:lnTo>
                    <a:pt x="510540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4333" r="0" b="-7433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5105400" cy="81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4A5565"/>
                  </a:solidFill>
                  <a:latin typeface="Arial"/>
                  <a:ea typeface="Arial"/>
                  <a:cs typeface="Arial"/>
                  <a:sym typeface="Arial"/>
                </a:rPr>
                <a:t>Ensemble technique combining weak learners for complex patterns.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258675" y="4043362"/>
            <a:ext cx="3829050" cy="371475"/>
            <a:chOff x="0" y="0"/>
            <a:chExt cx="5105400" cy="4953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105400" cy="495300"/>
            </a:xfrm>
            <a:custGeom>
              <a:avLst/>
              <a:gdLst/>
              <a:ahLst/>
              <a:cxnLst/>
              <a:rect r="r" b="b" t="t" l="l"/>
              <a:pathLst>
                <a:path h="495300" w="5105400">
                  <a:moveTo>
                    <a:pt x="0" y="0"/>
                  </a:moveTo>
                  <a:lnTo>
                    <a:pt x="5105400" y="0"/>
                  </a:lnTo>
                  <a:lnTo>
                    <a:pt x="510540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50845" r="0" b="-15084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510540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Deep Learning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944600" y="4714875"/>
            <a:ext cx="457200" cy="457200"/>
            <a:chOff x="0" y="0"/>
            <a:chExt cx="609600" cy="609600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522900" y="5386388"/>
            <a:ext cx="1300610" cy="385762"/>
            <a:chOff x="0" y="0"/>
            <a:chExt cx="1734147" cy="5143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734146" cy="514350"/>
            </a:xfrm>
            <a:custGeom>
              <a:avLst/>
              <a:gdLst/>
              <a:ahLst/>
              <a:cxnLst/>
              <a:rect r="r" b="b" t="t" l="l"/>
              <a:pathLst>
                <a:path h="514350" w="1734146">
                  <a:moveTo>
                    <a:pt x="0" y="0"/>
                  </a:moveTo>
                  <a:lnTo>
                    <a:pt x="1734146" y="0"/>
                  </a:lnTo>
                  <a:lnTo>
                    <a:pt x="1734146" y="514350"/>
                  </a:lnTo>
                  <a:lnTo>
                    <a:pt x="0" y="5143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5694" r="0" b="-1569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1734147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DistilBERT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258675" y="5886450"/>
            <a:ext cx="3829050" cy="600075"/>
            <a:chOff x="0" y="0"/>
            <a:chExt cx="5105400" cy="8001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105400" cy="800100"/>
            </a:xfrm>
            <a:custGeom>
              <a:avLst/>
              <a:gdLst/>
              <a:ahLst/>
              <a:cxnLst/>
              <a:rect r="r" b="b" t="t" l="l"/>
              <a:pathLst>
                <a:path h="800100" w="5105400">
                  <a:moveTo>
                    <a:pt x="0" y="0"/>
                  </a:moveTo>
                  <a:lnTo>
                    <a:pt x="5105400" y="0"/>
                  </a:lnTo>
                  <a:lnTo>
                    <a:pt x="510540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4333" r="0" b="-7433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5105400" cy="81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E5E7EB"/>
                  </a:solidFill>
                  <a:latin typeface="Arial"/>
                  <a:ea typeface="Arial"/>
                  <a:cs typeface="Arial"/>
                  <a:sym typeface="Arial"/>
                </a:rPr>
                <a:t>Deep Learning Transformer model for semantic understanding.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239493" y="7713378"/>
            <a:ext cx="8705107" cy="573372"/>
            <a:chOff x="0" y="0"/>
            <a:chExt cx="10412019" cy="685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412016" cy="685800"/>
            </a:xfrm>
            <a:custGeom>
              <a:avLst/>
              <a:gdLst/>
              <a:ahLst/>
              <a:cxnLst/>
              <a:rect r="r" b="b" t="t" l="l"/>
              <a:pathLst>
                <a:path h="685800" w="10412016">
                  <a:moveTo>
                    <a:pt x="0" y="0"/>
                  </a:moveTo>
                  <a:lnTo>
                    <a:pt x="10412016" y="0"/>
                  </a:lnTo>
                  <a:lnTo>
                    <a:pt x="10412016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5827" r="0" b="-24582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0412019" cy="695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i="true">
                  <a:solidFill>
                    <a:srgbClr val="101828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Enables comparison between simple &amp; advanced models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4338" y="6615112"/>
            <a:ext cx="8443912" cy="2628900"/>
            <a:chOff x="0" y="0"/>
            <a:chExt cx="11258550" cy="35052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1258550" cy="3505200"/>
            </a:xfrm>
            <a:custGeom>
              <a:avLst/>
              <a:gdLst/>
              <a:ahLst/>
              <a:cxnLst/>
              <a:rect r="r" b="b" t="t" l="l"/>
              <a:pathLst>
                <a:path h="3505200" w="11258550">
                  <a:moveTo>
                    <a:pt x="0" y="0"/>
                  </a:moveTo>
                  <a:lnTo>
                    <a:pt x="11258550" y="0"/>
                  </a:lnTo>
                  <a:lnTo>
                    <a:pt x="11258550" y="3505200"/>
                  </a:lnTo>
                  <a:lnTo>
                    <a:pt x="0" y="350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86875" y="6615112"/>
            <a:ext cx="8586788" cy="2628900"/>
            <a:chOff x="0" y="0"/>
            <a:chExt cx="11449050" cy="35052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1449050" cy="3505200"/>
            </a:xfrm>
            <a:custGeom>
              <a:avLst/>
              <a:gdLst/>
              <a:ahLst/>
              <a:cxnLst/>
              <a:rect r="r" b="b" t="t" l="l"/>
              <a:pathLst>
                <a:path h="3505200" w="11449050">
                  <a:moveTo>
                    <a:pt x="0" y="0"/>
                  </a:moveTo>
                  <a:lnTo>
                    <a:pt x="11449050" y="0"/>
                  </a:lnTo>
                  <a:lnTo>
                    <a:pt x="11449050" y="3505200"/>
                  </a:lnTo>
                  <a:lnTo>
                    <a:pt x="0" y="3505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28662" y="560936"/>
            <a:ext cx="2362585" cy="493662"/>
            <a:chOff x="0" y="0"/>
            <a:chExt cx="3150114" cy="658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50112" cy="658216"/>
            </a:xfrm>
            <a:custGeom>
              <a:avLst/>
              <a:gdLst/>
              <a:ahLst/>
              <a:cxnLst/>
              <a:rect r="r" b="b" t="t" l="l"/>
              <a:pathLst>
                <a:path h="658216" w="3150112">
                  <a:moveTo>
                    <a:pt x="0" y="0"/>
                  </a:moveTo>
                  <a:lnTo>
                    <a:pt x="3150112" y="0"/>
                  </a:lnTo>
                  <a:lnTo>
                    <a:pt x="3150112" y="658216"/>
                  </a:lnTo>
                  <a:lnTo>
                    <a:pt x="0" y="658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37" r="54257" b="1682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3150114" cy="667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28625" y="1368923"/>
            <a:ext cx="17430750" cy="617039"/>
            <a:chOff x="0" y="0"/>
            <a:chExt cx="23241000" cy="8227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241000" cy="822722"/>
            </a:xfrm>
            <a:custGeom>
              <a:avLst/>
              <a:gdLst/>
              <a:ahLst/>
              <a:cxnLst/>
              <a:rect r="r" b="b" t="t" l="l"/>
              <a:pathLst>
                <a:path h="822722" w="23241000">
                  <a:moveTo>
                    <a:pt x="0" y="0"/>
                  </a:moveTo>
                  <a:lnTo>
                    <a:pt x="23241000" y="0"/>
                  </a:lnTo>
                  <a:lnTo>
                    <a:pt x="23241000" y="822722"/>
                  </a:lnTo>
                  <a:lnTo>
                    <a:pt x="0" y="82272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00431" r="0" b="-50043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3241000" cy="8608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>
                  <a:solidFill>
                    <a:srgbClr val="101828"/>
                  </a:solidFill>
                  <a:latin typeface="Arial"/>
                  <a:ea typeface="Arial"/>
                  <a:cs typeface="Arial"/>
                  <a:sym typeface="Arial"/>
                </a:rPr>
                <a:t>Model Performance Comparison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095129" y="2328862"/>
            <a:ext cx="2096243" cy="300038"/>
            <a:chOff x="0" y="0"/>
            <a:chExt cx="2794991" cy="400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94992" cy="400050"/>
            </a:xfrm>
            <a:custGeom>
              <a:avLst/>
              <a:gdLst/>
              <a:ahLst/>
              <a:cxnLst/>
              <a:rect r="r" b="b" t="t" l="l"/>
              <a:pathLst>
                <a:path h="400050" w="2794992">
                  <a:moveTo>
                    <a:pt x="0" y="0"/>
                  </a:moveTo>
                  <a:lnTo>
                    <a:pt x="2794992" y="0"/>
                  </a:lnTo>
                  <a:lnTo>
                    <a:pt x="2794992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6134" r="0" b="-8613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794991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Performance Metrics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14338" y="2728912"/>
            <a:ext cx="5457825" cy="3457575"/>
            <a:chOff x="0" y="0"/>
            <a:chExt cx="7277100" cy="46101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7277100" cy="4610100"/>
            </a:xfrm>
            <a:custGeom>
              <a:avLst/>
              <a:gdLst/>
              <a:ahLst/>
              <a:cxnLst/>
              <a:rect r="r" b="b" t="t" l="l"/>
              <a:pathLst>
                <a:path h="4610100" w="7277100">
                  <a:moveTo>
                    <a:pt x="0" y="0"/>
                  </a:moveTo>
                  <a:lnTo>
                    <a:pt x="7277100" y="0"/>
                  </a:lnTo>
                  <a:lnTo>
                    <a:pt x="7277100" y="4610100"/>
                  </a:lnTo>
                  <a:lnTo>
                    <a:pt x="0" y="461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639126" y="2328862"/>
            <a:ext cx="3009748" cy="300038"/>
            <a:chOff x="0" y="0"/>
            <a:chExt cx="4012997" cy="400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13002" cy="400050"/>
            </a:xfrm>
            <a:custGeom>
              <a:avLst/>
              <a:gdLst/>
              <a:ahLst/>
              <a:cxnLst/>
              <a:rect r="r" b="b" t="t" l="l"/>
              <a:pathLst>
                <a:path h="400050" w="4013002">
                  <a:moveTo>
                    <a:pt x="0" y="0"/>
                  </a:moveTo>
                  <a:lnTo>
                    <a:pt x="4013002" y="0"/>
                  </a:lnTo>
                  <a:lnTo>
                    <a:pt x="4013002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5459" r="0" b="-14545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012997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ROC Curves (AUC Comparison)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415088" y="2728912"/>
            <a:ext cx="5457825" cy="3457575"/>
            <a:chOff x="0" y="0"/>
            <a:chExt cx="7277100" cy="46101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7277100" cy="4610100"/>
            </a:xfrm>
            <a:custGeom>
              <a:avLst/>
              <a:gdLst/>
              <a:ahLst/>
              <a:cxnLst/>
              <a:rect r="r" b="b" t="t" l="l"/>
              <a:pathLst>
                <a:path h="4610100" w="7277100">
                  <a:moveTo>
                    <a:pt x="0" y="0"/>
                  </a:moveTo>
                  <a:lnTo>
                    <a:pt x="7277100" y="0"/>
                  </a:lnTo>
                  <a:lnTo>
                    <a:pt x="7277100" y="4610100"/>
                  </a:lnTo>
                  <a:lnTo>
                    <a:pt x="0" y="461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784980" y="2328862"/>
            <a:ext cx="2719540" cy="300038"/>
            <a:chOff x="0" y="0"/>
            <a:chExt cx="3626053" cy="400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26048" cy="400050"/>
            </a:xfrm>
            <a:custGeom>
              <a:avLst/>
              <a:gdLst/>
              <a:ahLst/>
              <a:cxnLst/>
              <a:rect r="r" b="b" t="t" l="l"/>
              <a:pathLst>
                <a:path h="400050" w="3626048">
                  <a:moveTo>
                    <a:pt x="0" y="0"/>
                  </a:moveTo>
                  <a:lnTo>
                    <a:pt x="3626048" y="0"/>
                  </a:lnTo>
                  <a:lnTo>
                    <a:pt x="3626048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6612" r="0" b="-12661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3626053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BERT Training Performance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415838" y="2728912"/>
            <a:ext cx="5457825" cy="3457575"/>
            <a:chOff x="0" y="0"/>
            <a:chExt cx="7277100" cy="4610100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7277100" cy="4610100"/>
            </a:xfrm>
            <a:custGeom>
              <a:avLst/>
              <a:gdLst/>
              <a:ahLst/>
              <a:cxnLst/>
              <a:rect r="r" b="b" t="t" l="l"/>
              <a:pathLst>
                <a:path h="4610100" w="7277100">
                  <a:moveTo>
                    <a:pt x="0" y="0"/>
                  </a:moveTo>
                  <a:lnTo>
                    <a:pt x="7277100" y="0"/>
                  </a:lnTo>
                  <a:lnTo>
                    <a:pt x="7277100" y="4610100"/>
                  </a:lnTo>
                  <a:lnTo>
                    <a:pt x="0" y="461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714375" y="6915150"/>
            <a:ext cx="7843838" cy="514350"/>
            <a:chOff x="0" y="0"/>
            <a:chExt cx="10458450" cy="68580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10458450" cy="685800"/>
            </a:xfrm>
            <a:custGeom>
              <a:avLst/>
              <a:gdLst/>
              <a:ahLst/>
              <a:cxnLst/>
              <a:rect r="r" b="b" t="t" l="l"/>
              <a:pathLst>
                <a:path h="685800" w="10458450">
                  <a:moveTo>
                    <a:pt x="0" y="0"/>
                  </a:moveTo>
                  <a:lnTo>
                    <a:pt x="10458450" y="0"/>
                  </a:lnTo>
                  <a:lnTo>
                    <a:pt x="1045845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28662" y="6929438"/>
            <a:ext cx="7815262" cy="371475"/>
            <a:chOff x="0" y="0"/>
            <a:chExt cx="10420350" cy="4953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20350" cy="495300"/>
            </a:xfrm>
            <a:custGeom>
              <a:avLst/>
              <a:gdLst/>
              <a:ahLst/>
              <a:cxnLst/>
              <a:rect r="r" b="b" t="t" l="l"/>
              <a:pathLst>
                <a:path h="495300" w="10420350">
                  <a:moveTo>
                    <a:pt x="0" y="0"/>
                  </a:moveTo>
                  <a:lnTo>
                    <a:pt x="10420350" y="0"/>
                  </a:lnTo>
                  <a:lnTo>
                    <a:pt x="1042035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9935" r="0" b="-35993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042035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002FA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Performance Highlights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14375" y="7643812"/>
            <a:ext cx="257175" cy="242888"/>
            <a:chOff x="0" y="0"/>
            <a:chExt cx="342900" cy="32385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342900" cy="323850"/>
            </a:xfrm>
            <a:custGeom>
              <a:avLst/>
              <a:gdLst/>
              <a:ahLst/>
              <a:cxnLst/>
              <a:rect r="r" b="b" t="t" l="l"/>
              <a:pathLst>
                <a:path h="3238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23850"/>
                  </a:lnTo>
                  <a:lnTo>
                    <a:pt x="0" y="323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00138" y="7615238"/>
            <a:ext cx="5275659" cy="319907"/>
            <a:chOff x="0" y="0"/>
            <a:chExt cx="7034212" cy="42654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034212" cy="426542"/>
            </a:xfrm>
            <a:custGeom>
              <a:avLst/>
              <a:gdLst/>
              <a:ahLst/>
              <a:cxnLst/>
              <a:rect r="r" b="b" t="t" l="l"/>
              <a:pathLst>
                <a:path h="426542" w="7034212">
                  <a:moveTo>
                    <a:pt x="0" y="0"/>
                  </a:moveTo>
                  <a:lnTo>
                    <a:pt x="7034212" y="0"/>
                  </a:lnTo>
                  <a:lnTo>
                    <a:pt x="7034212" y="426542"/>
                  </a:lnTo>
                  <a:lnTo>
                    <a:pt x="0" y="4265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1332" r="0" b="-27133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7034212" cy="445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01828"/>
                  </a:solidFill>
                  <a:latin typeface="Arial"/>
                  <a:ea typeface="Arial"/>
                  <a:cs typeface="Arial"/>
                  <a:sym typeface="Arial"/>
                </a:rPr>
                <a:t>Logistic Regression: Accuracy ~73.6%, </a:t>
              </a:r>
              <a:r>
                <a:rPr lang="en-US" sz="1650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AUC = 0.83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14375" y="8129588"/>
            <a:ext cx="257175" cy="257175"/>
            <a:chOff x="0" y="0"/>
            <a:chExt cx="342900" cy="342900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00138" y="8106594"/>
            <a:ext cx="5164036" cy="319907"/>
            <a:chOff x="0" y="0"/>
            <a:chExt cx="6885381" cy="42654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885384" cy="426542"/>
            </a:xfrm>
            <a:custGeom>
              <a:avLst/>
              <a:gdLst/>
              <a:ahLst/>
              <a:cxnLst/>
              <a:rect r="r" b="b" t="t" l="l"/>
              <a:pathLst>
                <a:path h="426542" w="6885384">
                  <a:moveTo>
                    <a:pt x="0" y="0"/>
                  </a:moveTo>
                  <a:lnTo>
                    <a:pt x="6885384" y="0"/>
                  </a:lnTo>
                  <a:lnTo>
                    <a:pt x="6885384" y="426542"/>
                  </a:lnTo>
                  <a:lnTo>
                    <a:pt x="0" y="4265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4533" r="0" b="-26453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6885381" cy="445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01828"/>
                  </a:solidFill>
                  <a:latin typeface="Arial"/>
                  <a:ea typeface="Arial"/>
                  <a:cs typeface="Arial"/>
                  <a:sym typeface="Arial"/>
                </a:rPr>
                <a:t>Gradient Boosting: Accuracy ~74.3%, </a:t>
              </a:r>
              <a:r>
                <a:rPr lang="en-US" sz="1650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AUC = 0.82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14375" y="8615362"/>
            <a:ext cx="257175" cy="257175"/>
            <a:chOff x="0" y="0"/>
            <a:chExt cx="342900" cy="34290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00138" y="8597951"/>
            <a:ext cx="4382024" cy="319907"/>
            <a:chOff x="0" y="0"/>
            <a:chExt cx="5842698" cy="42654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842694" cy="426542"/>
            </a:xfrm>
            <a:custGeom>
              <a:avLst/>
              <a:gdLst/>
              <a:ahLst/>
              <a:cxnLst/>
              <a:rect r="r" b="b" t="t" l="l"/>
              <a:pathLst>
                <a:path h="426542" w="5842694">
                  <a:moveTo>
                    <a:pt x="0" y="0"/>
                  </a:moveTo>
                  <a:lnTo>
                    <a:pt x="5842694" y="0"/>
                  </a:lnTo>
                  <a:lnTo>
                    <a:pt x="5842694" y="426542"/>
                  </a:lnTo>
                  <a:lnTo>
                    <a:pt x="0" y="4265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6902" r="0" b="-21690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5842698" cy="445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01828"/>
                  </a:solidFill>
                  <a:latin typeface="Arial"/>
                  <a:ea typeface="Arial"/>
                  <a:cs typeface="Arial"/>
                  <a:sym typeface="Arial"/>
                </a:rPr>
                <a:t>DistilBERT: underperforming, </a:t>
              </a:r>
              <a:r>
                <a:rPr lang="en-US" sz="1650" b="true">
                  <a:solidFill>
                    <a:srgbClr val="10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AUC = 0.68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672638" y="7070750"/>
            <a:ext cx="7815262" cy="891188"/>
            <a:chOff x="0" y="0"/>
            <a:chExt cx="10420350" cy="118825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420350" cy="1188244"/>
            </a:xfrm>
            <a:custGeom>
              <a:avLst/>
              <a:gdLst/>
              <a:ahLst/>
              <a:cxnLst/>
              <a:rect r="r" b="b" t="t" l="l"/>
              <a:pathLst>
                <a:path h="1188244" w="10420350">
                  <a:moveTo>
                    <a:pt x="0" y="0"/>
                  </a:moveTo>
                  <a:lnTo>
                    <a:pt x="10420350" y="0"/>
                  </a:lnTo>
                  <a:lnTo>
                    <a:pt x="10420350" y="1188244"/>
                  </a:lnTo>
                  <a:lnTo>
                    <a:pt x="0" y="11882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0874" r="0" b="-12087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10420350" cy="119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Traditional ML outperformed the transformer model on this dataset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672638" y="8133378"/>
            <a:ext cx="7815262" cy="642938"/>
            <a:chOff x="0" y="0"/>
            <a:chExt cx="10420350" cy="8572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420350" cy="857250"/>
            </a:xfrm>
            <a:custGeom>
              <a:avLst/>
              <a:gdLst/>
              <a:ahLst/>
              <a:cxnLst/>
              <a:rect r="r" b="b" t="t" l="l"/>
              <a:pathLst>
                <a:path h="857250" w="10420350">
                  <a:moveTo>
                    <a:pt x="0" y="0"/>
                  </a:moveTo>
                  <a:lnTo>
                    <a:pt x="10420350" y="0"/>
                  </a:lnTo>
                  <a:lnTo>
                    <a:pt x="10420350" y="857250"/>
                  </a:lnTo>
                  <a:lnTo>
                    <a:pt x="0" y="857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6851" r="0" b="-18685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10420350" cy="876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000000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Simpler models with strong linguistic features proved more robust for this specific domain.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42962" y="1243012"/>
            <a:ext cx="942975" cy="57150"/>
            <a:chOff x="0" y="0"/>
            <a:chExt cx="1257300" cy="762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257300" cy="76200"/>
            </a:xfrm>
            <a:custGeom>
              <a:avLst/>
              <a:gdLst/>
              <a:ahLst/>
              <a:cxnLst/>
              <a:rect r="r" b="b" t="t" l="l"/>
              <a:pathLst>
                <a:path h="76200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57275" y="1557338"/>
            <a:ext cx="4972050" cy="3571875"/>
            <a:chOff x="0" y="0"/>
            <a:chExt cx="6629400" cy="47625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6629400" cy="4762500"/>
            </a:xfrm>
            <a:custGeom>
              <a:avLst/>
              <a:gdLst/>
              <a:ahLst/>
              <a:cxnLst/>
              <a:rect r="r" b="b" t="t" l="l"/>
              <a:pathLst>
                <a:path h="4762500" w="6629400">
                  <a:moveTo>
                    <a:pt x="0" y="0"/>
                  </a:moveTo>
                  <a:lnTo>
                    <a:pt x="6629400" y="0"/>
                  </a:lnTo>
                  <a:lnTo>
                    <a:pt x="6629400" y="4762500"/>
                  </a:lnTo>
                  <a:lnTo>
                    <a:pt x="0" y="476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657975" y="1557338"/>
            <a:ext cx="4972050" cy="3571875"/>
            <a:chOff x="0" y="0"/>
            <a:chExt cx="6629400" cy="476250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6629400" cy="4762500"/>
            </a:xfrm>
            <a:custGeom>
              <a:avLst/>
              <a:gdLst/>
              <a:ahLst/>
              <a:cxnLst/>
              <a:rect r="r" b="b" t="t" l="l"/>
              <a:pathLst>
                <a:path h="4762500" w="6629400">
                  <a:moveTo>
                    <a:pt x="0" y="0"/>
                  </a:moveTo>
                  <a:lnTo>
                    <a:pt x="6629400" y="0"/>
                  </a:lnTo>
                  <a:lnTo>
                    <a:pt x="6629400" y="4762500"/>
                  </a:lnTo>
                  <a:lnTo>
                    <a:pt x="0" y="476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258675" y="1557338"/>
            <a:ext cx="4972050" cy="3571875"/>
            <a:chOff x="0" y="0"/>
            <a:chExt cx="6629400" cy="476250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6629400" cy="4762500"/>
            </a:xfrm>
            <a:custGeom>
              <a:avLst/>
              <a:gdLst/>
              <a:ahLst/>
              <a:cxnLst/>
              <a:rect r="r" b="b" t="t" l="l"/>
              <a:pathLst>
                <a:path h="4762500" w="6629400">
                  <a:moveTo>
                    <a:pt x="0" y="0"/>
                  </a:moveTo>
                  <a:lnTo>
                    <a:pt x="6629400" y="0"/>
                  </a:lnTo>
                  <a:lnTo>
                    <a:pt x="6629400" y="4762500"/>
                  </a:lnTo>
                  <a:lnTo>
                    <a:pt x="0" y="476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42962" y="6329362"/>
            <a:ext cx="9601200" cy="2257425"/>
            <a:chOff x="0" y="0"/>
            <a:chExt cx="12801600" cy="30099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2801600" cy="3009900"/>
            </a:xfrm>
            <a:custGeom>
              <a:avLst/>
              <a:gdLst/>
              <a:ahLst/>
              <a:cxnLst/>
              <a:rect r="r" b="b" t="t" l="l"/>
              <a:pathLst>
                <a:path h="300990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3009900"/>
                  </a:lnTo>
                  <a:lnTo>
                    <a:pt x="0" y="3009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571500"/>
            <a:ext cx="17070705" cy="571500"/>
            <a:chOff x="0" y="0"/>
            <a:chExt cx="22760940" cy="762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760939" cy="762000"/>
            </a:xfrm>
            <a:custGeom>
              <a:avLst/>
              <a:gdLst/>
              <a:ahLst/>
              <a:cxnLst/>
              <a:rect r="r" b="b" t="t" l="l"/>
              <a:pathLst>
                <a:path h="762000" w="22760939">
                  <a:moveTo>
                    <a:pt x="0" y="0"/>
                  </a:moveTo>
                  <a:lnTo>
                    <a:pt x="22760939" y="0"/>
                  </a:lnTo>
                  <a:lnTo>
                    <a:pt x="22760939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32018" r="0" b="-53201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2760940" cy="771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00000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Confusion Matrix Analysis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43012" y="1743075"/>
            <a:ext cx="4600575" cy="3171825"/>
            <a:chOff x="0" y="0"/>
            <a:chExt cx="6134100" cy="42291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6134100" cy="4229100"/>
            </a:xfrm>
            <a:custGeom>
              <a:avLst/>
              <a:gdLst/>
              <a:ahLst/>
              <a:cxnLst/>
              <a:rect r="r" b="b" t="t" l="l"/>
              <a:pathLst>
                <a:path h="4229100" w="6134100">
                  <a:moveTo>
                    <a:pt x="0" y="0"/>
                  </a:moveTo>
                  <a:lnTo>
                    <a:pt x="6134100" y="0"/>
                  </a:lnTo>
                  <a:lnTo>
                    <a:pt x="6134100" y="4229100"/>
                  </a:lnTo>
                  <a:lnTo>
                    <a:pt x="0" y="422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528888" y="5200650"/>
            <a:ext cx="2109978" cy="400050"/>
            <a:chOff x="0" y="0"/>
            <a:chExt cx="2813304" cy="533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13304" cy="533400"/>
            </a:xfrm>
            <a:custGeom>
              <a:avLst/>
              <a:gdLst/>
              <a:ahLst/>
              <a:cxnLst/>
              <a:rect r="r" b="b" t="t" l="l"/>
              <a:pathLst>
                <a:path h="533400" w="2813304">
                  <a:moveTo>
                    <a:pt x="0" y="0"/>
                  </a:moveTo>
                  <a:lnTo>
                    <a:pt x="2813304" y="0"/>
                  </a:lnTo>
                  <a:lnTo>
                    <a:pt x="2813304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2769" r="0" b="-5276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2813304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Logistic Regression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750344" y="5657850"/>
            <a:ext cx="1649349" cy="342900"/>
            <a:chOff x="0" y="0"/>
            <a:chExt cx="2199132" cy="457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9132" cy="457200"/>
            </a:xfrm>
            <a:custGeom>
              <a:avLst/>
              <a:gdLst/>
              <a:ahLst/>
              <a:cxnLst/>
              <a:rect r="r" b="b" t="t" l="l"/>
              <a:pathLst>
                <a:path h="457200" w="2199132">
                  <a:moveTo>
                    <a:pt x="0" y="0"/>
                  </a:moveTo>
                  <a:lnTo>
                    <a:pt x="2199132" y="0"/>
                  </a:lnTo>
                  <a:lnTo>
                    <a:pt x="219913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723" r="0" b="-4372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2199132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66666"/>
                  </a:solidFill>
                  <a:latin typeface="Georgia"/>
                  <a:ea typeface="Georgia"/>
                  <a:cs typeface="Georgia"/>
                  <a:sym typeface="Georgia"/>
                </a:rPr>
                <a:t>TP: </a:t>
              </a:r>
              <a:r>
                <a:rPr lang="en-US" sz="1650" b="true">
                  <a:solidFill>
                    <a:srgbClr val="DA775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538</a:t>
              </a:r>
              <a:r>
                <a:rPr lang="en-US" sz="1650">
                  <a:solidFill>
                    <a:srgbClr val="666666"/>
                  </a:solidFill>
                  <a:latin typeface="Georgia"/>
                  <a:ea typeface="Georgia"/>
                  <a:cs typeface="Georgia"/>
                  <a:sym typeface="Georgia"/>
                </a:rPr>
                <a:t> | TN: </a:t>
              </a:r>
              <a:r>
                <a:rPr lang="en-US" sz="1650" b="true">
                  <a:solidFill>
                    <a:srgbClr val="DA775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395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843712" y="1743075"/>
            <a:ext cx="4600575" cy="3171825"/>
            <a:chOff x="0" y="0"/>
            <a:chExt cx="6134100" cy="422910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6134100" cy="4229100"/>
            </a:xfrm>
            <a:custGeom>
              <a:avLst/>
              <a:gdLst/>
              <a:ahLst/>
              <a:cxnLst/>
              <a:rect r="r" b="b" t="t" l="l"/>
              <a:pathLst>
                <a:path h="4229100" w="6134100">
                  <a:moveTo>
                    <a:pt x="0" y="0"/>
                  </a:moveTo>
                  <a:lnTo>
                    <a:pt x="6134100" y="0"/>
                  </a:lnTo>
                  <a:lnTo>
                    <a:pt x="6134100" y="4229100"/>
                  </a:lnTo>
                  <a:lnTo>
                    <a:pt x="0" y="422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179594" y="5200650"/>
            <a:ext cx="2005965" cy="400050"/>
            <a:chOff x="0" y="0"/>
            <a:chExt cx="2674620" cy="533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674620" cy="533400"/>
            </a:xfrm>
            <a:custGeom>
              <a:avLst/>
              <a:gdLst/>
              <a:ahLst/>
              <a:cxnLst/>
              <a:rect r="r" b="b" t="t" l="l"/>
              <a:pathLst>
                <a:path h="533400" w="2674620">
                  <a:moveTo>
                    <a:pt x="0" y="0"/>
                  </a:moveTo>
                  <a:lnTo>
                    <a:pt x="2674620" y="0"/>
                  </a:lnTo>
                  <a:lnTo>
                    <a:pt x="267462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7703" r="0" b="-4770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67462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Gradient Boosting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329612" y="5657850"/>
            <a:ext cx="1693926" cy="342900"/>
            <a:chOff x="0" y="0"/>
            <a:chExt cx="2258568" cy="457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58568" cy="457200"/>
            </a:xfrm>
            <a:custGeom>
              <a:avLst/>
              <a:gdLst/>
              <a:ahLst/>
              <a:cxnLst/>
              <a:rect r="r" b="b" t="t" l="l"/>
              <a:pathLst>
                <a:path h="457200" w="2258568">
                  <a:moveTo>
                    <a:pt x="0" y="0"/>
                  </a:moveTo>
                  <a:lnTo>
                    <a:pt x="2258568" y="0"/>
                  </a:lnTo>
                  <a:lnTo>
                    <a:pt x="225856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256" r="0" b="-4625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258568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66666"/>
                  </a:solidFill>
                  <a:latin typeface="Georgia"/>
                  <a:ea typeface="Georgia"/>
                  <a:cs typeface="Georgia"/>
                  <a:sym typeface="Georgia"/>
                </a:rPr>
                <a:t>TP: </a:t>
              </a:r>
              <a:r>
                <a:rPr lang="en-US" sz="1650" b="true">
                  <a:solidFill>
                    <a:srgbClr val="DA775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538</a:t>
              </a:r>
              <a:r>
                <a:rPr lang="en-US" sz="1650">
                  <a:solidFill>
                    <a:srgbClr val="666666"/>
                  </a:solidFill>
                  <a:latin typeface="Georgia"/>
                  <a:ea typeface="Georgia"/>
                  <a:cs typeface="Georgia"/>
                  <a:sym typeface="Georgia"/>
                </a:rPr>
                <a:t> | TN: </a:t>
              </a:r>
              <a:r>
                <a:rPr lang="en-US" sz="1650" b="true">
                  <a:solidFill>
                    <a:srgbClr val="DA775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404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444412" y="1743075"/>
            <a:ext cx="4600575" cy="3171825"/>
            <a:chOff x="0" y="0"/>
            <a:chExt cx="6134100" cy="4229100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6134100" cy="4229100"/>
            </a:xfrm>
            <a:custGeom>
              <a:avLst/>
              <a:gdLst/>
              <a:ahLst/>
              <a:cxnLst/>
              <a:rect r="r" b="b" t="t" l="l"/>
              <a:pathLst>
                <a:path h="4229100" w="6134100">
                  <a:moveTo>
                    <a:pt x="0" y="0"/>
                  </a:moveTo>
                  <a:lnTo>
                    <a:pt x="6134100" y="0"/>
                  </a:lnTo>
                  <a:lnTo>
                    <a:pt x="6134100" y="4229100"/>
                  </a:lnTo>
                  <a:lnTo>
                    <a:pt x="0" y="422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4173200" y="5200650"/>
            <a:ext cx="1188720" cy="400050"/>
            <a:chOff x="0" y="0"/>
            <a:chExt cx="1584960" cy="533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84960" cy="533400"/>
            </a:xfrm>
            <a:custGeom>
              <a:avLst/>
              <a:gdLst/>
              <a:ahLst/>
              <a:cxnLst/>
              <a:rect r="r" b="b" t="t" l="l"/>
              <a:pathLst>
                <a:path h="53340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898" r="0" b="-789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158496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DistilBERT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944600" y="5657850"/>
            <a:ext cx="1664208" cy="342900"/>
            <a:chOff x="0" y="0"/>
            <a:chExt cx="2218944" cy="457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18944" cy="457200"/>
            </a:xfrm>
            <a:custGeom>
              <a:avLst/>
              <a:gdLst/>
              <a:ahLst/>
              <a:cxnLst/>
              <a:rect r="r" b="b" t="t" l="l"/>
              <a:pathLst>
                <a:path h="457200" w="2218944">
                  <a:moveTo>
                    <a:pt x="0" y="0"/>
                  </a:moveTo>
                  <a:lnTo>
                    <a:pt x="2218944" y="0"/>
                  </a:lnTo>
                  <a:lnTo>
                    <a:pt x="221894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4567" r="0" b="-4456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221894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66666"/>
                  </a:solidFill>
                  <a:latin typeface="Georgia"/>
                  <a:ea typeface="Georgia"/>
                  <a:cs typeface="Georgia"/>
                  <a:sym typeface="Georgia"/>
                </a:rPr>
                <a:t>TP: </a:t>
              </a:r>
              <a:r>
                <a:rPr lang="en-US" sz="1650" b="true">
                  <a:solidFill>
                    <a:srgbClr val="DA775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506</a:t>
              </a:r>
              <a:r>
                <a:rPr lang="en-US" sz="1650">
                  <a:solidFill>
                    <a:srgbClr val="666666"/>
                  </a:solidFill>
                  <a:latin typeface="Georgia"/>
                  <a:ea typeface="Georgia"/>
                  <a:cs typeface="Georgia"/>
                  <a:sym typeface="Georgia"/>
                </a:rPr>
                <a:t> | TN: </a:t>
              </a:r>
              <a:r>
                <a:rPr lang="en-US" sz="1650" b="true">
                  <a:solidFill>
                    <a:srgbClr val="DA775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325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43000" y="6572250"/>
            <a:ext cx="9420606" cy="400050"/>
            <a:chOff x="0" y="0"/>
            <a:chExt cx="12560808" cy="533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560808" cy="533400"/>
            </a:xfrm>
            <a:custGeom>
              <a:avLst/>
              <a:gdLst/>
              <a:ahLst/>
              <a:cxnLst/>
              <a:rect r="r" b="b" t="t" l="l"/>
              <a:pathLst>
                <a:path h="533400" w="12560808">
                  <a:moveTo>
                    <a:pt x="0" y="0"/>
                  </a:moveTo>
                  <a:lnTo>
                    <a:pt x="12560808" y="0"/>
                  </a:lnTo>
                  <a:lnTo>
                    <a:pt x="12560808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08844" r="0" b="-40884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12560808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Error Pattern Insight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43000" y="7086600"/>
            <a:ext cx="9420606" cy="1253728"/>
            <a:chOff x="0" y="0"/>
            <a:chExt cx="12560808" cy="167163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560808" cy="1671638"/>
            </a:xfrm>
            <a:custGeom>
              <a:avLst/>
              <a:gdLst/>
              <a:ahLst/>
              <a:cxnLst/>
              <a:rect r="r" b="b" t="t" l="l"/>
              <a:pathLst>
                <a:path h="1671638" w="12560808">
                  <a:moveTo>
                    <a:pt x="0" y="0"/>
                  </a:moveTo>
                  <a:lnTo>
                    <a:pt x="12560808" y="0"/>
                  </a:lnTo>
                  <a:lnTo>
                    <a:pt x="12560808" y="1671638"/>
                  </a:lnTo>
                  <a:lnTo>
                    <a:pt x="0" y="167163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6411" r="0" b="-9641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12560808" cy="168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33333"/>
                  </a:solidFill>
                  <a:latin typeface="Georgia"/>
                  <a:ea typeface="Georgia"/>
                  <a:cs typeface="Georgia"/>
                  <a:sym typeface="Georgia"/>
                </a:rPr>
                <a:t>Both traditional models show notable </a:t>
              </a:r>
              <a:r>
                <a:rPr lang="en-US" sz="1800" b="true">
                  <a:solidFill>
                    <a:srgbClr val="333333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False Negatives</a:t>
              </a:r>
              <a:r>
                <a:rPr lang="en-US" sz="1800">
                  <a:solidFill>
                    <a:srgbClr val="333333"/>
                  </a:solidFill>
                  <a:latin typeface="Georgia"/>
                  <a:ea typeface="Georgia"/>
                  <a:cs typeface="Georgia"/>
                  <a:sym typeface="Georgia"/>
                </a:rPr>
                <a:t> (Real predicted as Fake). Gradient Boosting achieved the highest True Negative count, effectively identifying 9 more fake statements than Logistic Regression.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644188" y="6715125"/>
            <a:ext cx="257175" cy="271462"/>
            <a:chOff x="0" y="0"/>
            <a:chExt cx="342900" cy="361950"/>
          </a:xfrm>
        </p:grpSpPr>
        <p:sp>
          <p:nvSpPr>
            <p:cNvPr name="Freeform 50" id="50" descr="preencoded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058525" y="6684759"/>
            <a:ext cx="6627114" cy="685800"/>
            <a:chOff x="0" y="0"/>
            <a:chExt cx="8836152" cy="914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836152" cy="914400"/>
            </a:xfrm>
            <a:custGeom>
              <a:avLst/>
              <a:gdLst/>
              <a:ahLst/>
              <a:cxnLst/>
              <a:rect r="r" b="b" t="t" l="l"/>
              <a:pathLst>
                <a:path h="914400" w="8836152">
                  <a:moveTo>
                    <a:pt x="0" y="0"/>
                  </a:moveTo>
                  <a:lnTo>
                    <a:pt x="8836152" y="0"/>
                  </a:lnTo>
                  <a:lnTo>
                    <a:pt x="883615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8290" r="0" b="-13829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8836152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66666"/>
                  </a:solidFill>
                  <a:latin typeface="Georgia"/>
                  <a:ea typeface="Georgia"/>
                  <a:cs typeface="Georgia"/>
                  <a:sym typeface="Georgia"/>
                </a:rPr>
                <a:t>Traditional ML models maintain identical performance on Real statements (TP=538).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644188" y="7572375"/>
            <a:ext cx="257175" cy="271462"/>
            <a:chOff x="0" y="0"/>
            <a:chExt cx="342900" cy="361950"/>
          </a:xfrm>
        </p:grpSpPr>
        <p:sp>
          <p:nvSpPr>
            <p:cNvPr name="Freeform 55" id="55" descr="preencoded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058525" y="7542009"/>
            <a:ext cx="6627114" cy="685800"/>
            <a:chOff x="0" y="0"/>
            <a:chExt cx="8836152" cy="914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836152" cy="914400"/>
            </a:xfrm>
            <a:custGeom>
              <a:avLst/>
              <a:gdLst/>
              <a:ahLst/>
              <a:cxnLst/>
              <a:rect r="r" b="b" t="t" l="l"/>
              <a:pathLst>
                <a:path h="914400" w="8836152">
                  <a:moveTo>
                    <a:pt x="0" y="0"/>
                  </a:moveTo>
                  <a:lnTo>
                    <a:pt x="8836152" y="0"/>
                  </a:lnTo>
                  <a:lnTo>
                    <a:pt x="883615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8290" r="0" b="-13829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8836152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66666"/>
                  </a:solidFill>
                  <a:latin typeface="Georgia"/>
                  <a:ea typeface="Georgia"/>
                  <a:cs typeface="Georgia"/>
                  <a:sym typeface="Georgia"/>
                </a:rPr>
                <a:t>DistilBERT struggles significantly with True Negatives compared to ML baselines.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0100" y="1971675"/>
            <a:ext cx="11830050" cy="7043738"/>
            <a:chOff x="0" y="0"/>
            <a:chExt cx="15773400" cy="939165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5773400" cy="9391650"/>
            </a:xfrm>
            <a:custGeom>
              <a:avLst/>
              <a:gdLst/>
              <a:ahLst/>
              <a:cxnLst/>
              <a:rect r="r" b="b" t="t" l="l"/>
              <a:pathLst>
                <a:path h="9391650" w="15773400">
                  <a:moveTo>
                    <a:pt x="0" y="0"/>
                  </a:moveTo>
                  <a:lnTo>
                    <a:pt x="15773400" y="0"/>
                  </a:lnTo>
                  <a:lnTo>
                    <a:pt x="15773400" y="9391650"/>
                  </a:lnTo>
                  <a:lnTo>
                    <a:pt x="0" y="9391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130212" y="4471988"/>
            <a:ext cx="142875" cy="157162"/>
            <a:chOff x="0" y="0"/>
            <a:chExt cx="190500" cy="20955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90500" cy="209550"/>
            </a:xfrm>
            <a:custGeom>
              <a:avLst/>
              <a:gdLst/>
              <a:ahLst/>
              <a:cxnLst/>
              <a:rect r="r" b="b" t="t" l="l"/>
              <a:pathLst>
                <a:path h="2095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130212" y="5057775"/>
            <a:ext cx="142875" cy="157162"/>
            <a:chOff x="0" y="0"/>
            <a:chExt cx="190500" cy="20955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90500" cy="209550"/>
            </a:xfrm>
            <a:custGeom>
              <a:avLst/>
              <a:gdLst/>
              <a:ahLst/>
              <a:cxnLst/>
              <a:rect r="r" b="b" t="t" l="l"/>
              <a:pathLst>
                <a:path h="2095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130212" y="6015038"/>
            <a:ext cx="4314825" cy="1200150"/>
            <a:chOff x="0" y="0"/>
            <a:chExt cx="5753100" cy="160020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57531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5753100">
                  <a:moveTo>
                    <a:pt x="0" y="0"/>
                  </a:moveTo>
                  <a:lnTo>
                    <a:pt x="5753100" y="0"/>
                  </a:lnTo>
                  <a:lnTo>
                    <a:pt x="5753100" y="1600200"/>
                  </a:lnTo>
                  <a:lnTo>
                    <a:pt x="0" y="160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473112" y="6429375"/>
            <a:ext cx="3829050" cy="728662"/>
            <a:chOff x="0" y="0"/>
            <a:chExt cx="5105400" cy="97155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5105400" cy="971550"/>
            </a:xfrm>
            <a:custGeom>
              <a:avLst/>
              <a:gdLst/>
              <a:ahLst/>
              <a:cxnLst/>
              <a:rect r="r" b="b" t="t" l="l"/>
              <a:pathLst>
                <a:path h="971550" w="5105400">
                  <a:moveTo>
                    <a:pt x="0" y="0"/>
                  </a:moveTo>
                  <a:lnTo>
                    <a:pt x="5105400" y="0"/>
                  </a:lnTo>
                  <a:lnTo>
                    <a:pt x="5105400" y="971550"/>
                  </a:lnTo>
                  <a:lnTo>
                    <a:pt x="0" y="9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857250"/>
            <a:ext cx="17070705" cy="571500"/>
            <a:chOff x="0" y="0"/>
            <a:chExt cx="22760940" cy="762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760939" cy="762000"/>
            </a:xfrm>
            <a:custGeom>
              <a:avLst/>
              <a:gdLst/>
              <a:ahLst/>
              <a:cxnLst/>
              <a:rect r="r" b="b" t="t" l="l"/>
              <a:pathLst>
                <a:path h="762000" w="22760939">
                  <a:moveTo>
                    <a:pt x="0" y="0"/>
                  </a:moveTo>
                  <a:lnTo>
                    <a:pt x="22760939" y="0"/>
                  </a:lnTo>
                  <a:lnTo>
                    <a:pt x="22760939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32018" r="0" b="-53201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2760940" cy="771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00000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Model Explainability — SHAP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5850" y="2257425"/>
            <a:ext cx="11258550" cy="6457950"/>
            <a:chOff x="0" y="0"/>
            <a:chExt cx="15011400" cy="86106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5011400" cy="8610600"/>
            </a:xfrm>
            <a:custGeom>
              <a:avLst/>
              <a:gdLst/>
              <a:ahLst/>
              <a:cxnLst/>
              <a:rect r="r" b="b" t="t" l="l"/>
              <a:pathLst>
                <a:path h="8610600" w="15011400">
                  <a:moveTo>
                    <a:pt x="0" y="0"/>
                  </a:moveTo>
                  <a:lnTo>
                    <a:pt x="15011400" y="0"/>
                  </a:lnTo>
                  <a:lnTo>
                    <a:pt x="15011400" y="8610600"/>
                  </a:lnTo>
                  <a:lnTo>
                    <a:pt x="0" y="861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144500" y="3777263"/>
            <a:ext cx="4457700" cy="400050"/>
            <a:chOff x="0" y="0"/>
            <a:chExt cx="5943600" cy="533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43600" cy="533400"/>
            </a:xfrm>
            <a:custGeom>
              <a:avLst/>
              <a:gdLst/>
              <a:ahLst/>
              <a:cxnLst/>
              <a:rect r="r" b="b" t="t" l="l"/>
              <a:pathLst>
                <a:path h="533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594360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DA775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Key Insights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430250" y="4345328"/>
            <a:ext cx="3829050" cy="414200"/>
            <a:chOff x="0" y="0"/>
            <a:chExt cx="4358640" cy="4714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58640" cy="471488"/>
            </a:xfrm>
            <a:custGeom>
              <a:avLst/>
              <a:gdLst/>
              <a:ahLst/>
              <a:cxnLst/>
              <a:rect r="r" b="b" t="t" l="l"/>
              <a:pathLst>
                <a:path h="471488" w="4358640">
                  <a:moveTo>
                    <a:pt x="0" y="0"/>
                  </a:moveTo>
                  <a:lnTo>
                    <a:pt x="4358640" y="0"/>
                  </a:lnTo>
                  <a:lnTo>
                    <a:pt x="4358640" y="471488"/>
                  </a:lnTo>
                  <a:lnTo>
                    <a:pt x="0" y="47148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0128" r="0" b="-13012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4358640" cy="481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33333"/>
                  </a:solidFill>
                  <a:latin typeface="Georgia"/>
                  <a:ea typeface="Georgia"/>
                  <a:cs typeface="Georgia"/>
                  <a:sym typeface="Georgia"/>
                </a:rPr>
                <a:t>Top predictor: deception_ratio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430250" y="4988128"/>
            <a:ext cx="4160520" cy="707232"/>
            <a:chOff x="0" y="0"/>
            <a:chExt cx="5547360" cy="94297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547360" cy="942977"/>
            </a:xfrm>
            <a:custGeom>
              <a:avLst/>
              <a:gdLst/>
              <a:ahLst/>
              <a:cxnLst/>
              <a:rect r="r" b="b" t="t" l="l"/>
              <a:pathLst>
                <a:path h="942977" w="5547360">
                  <a:moveTo>
                    <a:pt x="0" y="0"/>
                  </a:moveTo>
                  <a:lnTo>
                    <a:pt x="5547360" y="0"/>
                  </a:lnTo>
                  <a:lnTo>
                    <a:pt x="5547360" y="942977"/>
                  </a:lnTo>
                  <a:lnTo>
                    <a:pt x="0" y="94297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4627" r="0" b="-6462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5547360" cy="952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33333"/>
                  </a:solidFill>
                  <a:latin typeface="Georgia"/>
                  <a:ea typeface="Georgia"/>
                  <a:cs typeface="Georgia"/>
                  <a:sym typeface="Georgia"/>
                </a:rPr>
                <a:t>Secondary predictors: truth_ratio, number_count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487400" y="6395437"/>
            <a:ext cx="4101084" cy="800100"/>
            <a:chOff x="0" y="0"/>
            <a:chExt cx="5468112" cy="1066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68112" cy="1066800"/>
            </a:xfrm>
            <a:custGeom>
              <a:avLst/>
              <a:gdLst/>
              <a:ahLst/>
              <a:cxnLst/>
              <a:rect r="r" b="b" t="t" l="l"/>
              <a:pathLst>
                <a:path h="1066800" w="5468112">
                  <a:moveTo>
                    <a:pt x="0" y="0"/>
                  </a:moveTo>
                  <a:lnTo>
                    <a:pt x="5468112" y="0"/>
                  </a:lnTo>
                  <a:lnTo>
                    <a:pt x="5468112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9874" r="0" b="-4987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5468112" cy="1076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A7756"/>
                  </a:solidFill>
                  <a:latin typeface="Georgia"/>
                  <a:ea typeface="Georgia"/>
                  <a:cs typeface="Georgia"/>
                  <a:sym typeface="Georgia"/>
                </a:rPr>
                <a:t>Decisions are driven by quantifiable linguistic features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42962" y="1585912"/>
            <a:ext cx="942975" cy="57150"/>
            <a:chOff x="0" y="0"/>
            <a:chExt cx="1257300" cy="762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257300" cy="76200"/>
            </a:xfrm>
            <a:custGeom>
              <a:avLst/>
              <a:gdLst/>
              <a:ahLst/>
              <a:cxnLst/>
              <a:rect r="r" b="b" t="t" l="l"/>
              <a:pathLst>
                <a:path h="76200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71538" y="1900238"/>
            <a:ext cx="11515725" cy="3671888"/>
            <a:chOff x="0" y="0"/>
            <a:chExt cx="15354300" cy="489585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5354300" cy="4895850"/>
            </a:xfrm>
            <a:custGeom>
              <a:avLst/>
              <a:gdLst/>
              <a:ahLst/>
              <a:cxnLst/>
              <a:rect r="r" b="b" t="t" l="l"/>
              <a:pathLst>
                <a:path h="4895850" w="15354300">
                  <a:moveTo>
                    <a:pt x="0" y="0"/>
                  </a:moveTo>
                  <a:lnTo>
                    <a:pt x="15354300" y="0"/>
                  </a:lnTo>
                  <a:lnTo>
                    <a:pt x="15354300" y="4895850"/>
                  </a:lnTo>
                  <a:lnTo>
                    <a:pt x="0" y="4895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538" y="5614988"/>
            <a:ext cx="11515725" cy="3028950"/>
            <a:chOff x="0" y="0"/>
            <a:chExt cx="15354300" cy="403860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5354300" cy="4038600"/>
            </a:xfrm>
            <a:custGeom>
              <a:avLst/>
              <a:gdLst/>
              <a:ahLst/>
              <a:cxnLst/>
              <a:rect r="r" b="b" t="t" l="l"/>
              <a:pathLst>
                <a:path h="4038600" w="15354300">
                  <a:moveTo>
                    <a:pt x="0" y="0"/>
                  </a:moveTo>
                  <a:lnTo>
                    <a:pt x="15354300" y="0"/>
                  </a:lnTo>
                  <a:lnTo>
                    <a:pt x="15354300" y="4038600"/>
                  </a:lnTo>
                  <a:lnTo>
                    <a:pt x="0" y="403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844462" y="4429125"/>
            <a:ext cx="142875" cy="157162"/>
            <a:chOff x="0" y="0"/>
            <a:chExt cx="190500" cy="20955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90500" cy="209550"/>
            </a:xfrm>
            <a:custGeom>
              <a:avLst/>
              <a:gdLst/>
              <a:ahLst/>
              <a:cxnLst/>
              <a:rect r="r" b="b" t="t" l="l"/>
              <a:pathLst>
                <a:path h="2095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844462" y="5472112"/>
            <a:ext cx="142875" cy="142875"/>
            <a:chOff x="0" y="0"/>
            <a:chExt cx="190500" cy="1905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90500" cy="190500"/>
            </a:xfrm>
            <a:custGeom>
              <a:avLst/>
              <a:gdLst/>
              <a:ahLst/>
              <a:cxnLst/>
              <a:rect r="r" b="b" t="t" l="l"/>
              <a:pathLst>
                <a:path h="1905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190500"/>
                  </a:lnTo>
                  <a:lnTo>
                    <a:pt x="0" y="19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844462" y="6072188"/>
            <a:ext cx="4600575" cy="1200150"/>
            <a:chOff x="0" y="0"/>
            <a:chExt cx="6134100" cy="160020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61341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6134100">
                  <a:moveTo>
                    <a:pt x="0" y="0"/>
                  </a:moveTo>
                  <a:lnTo>
                    <a:pt x="6134100" y="0"/>
                  </a:lnTo>
                  <a:lnTo>
                    <a:pt x="6134100" y="1600200"/>
                  </a:lnTo>
                  <a:lnTo>
                    <a:pt x="0" y="160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187362" y="6486525"/>
            <a:ext cx="3657600" cy="728662"/>
            <a:chOff x="0" y="0"/>
            <a:chExt cx="4876800" cy="97155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4876800" cy="971550"/>
            </a:xfrm>
            <a:custGeom>
              <a:avLst/>
              <a:gdLst/>
              <a:ahLst/>
              <a:cxnLst/>
              <a:rect r="r" b="b" t="t" l="l"/>
              <a:pathLst>
                <a:path h="97155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71550"/>
                  </a:lnTo>
                  <a:lnTo>
                    <a:pt x="0" y="9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57250" y="857250"/>
            <a:ext cx="17070705" cy="571500"/>
            <a:chOff x="0" y="0"/>
            <a:chExt cx="22760940" cy="762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760939" cy="762000"/>
            </a:xfrm>
            <a:custGeom>
              <a:avLst/>
              <a:gdLst/>
              <a:ahLst/>
              <a:cxnLst/>
              <a:rect r="r" b="b" t="t" l="l"/>
              <a:pathLst>
                <a:path h="762000" w="22760939">
                  <a:moveTo>
                    <a:pt x="0" y="0"/>
                  </a:moveTo>
                  <a:lnTo>
                    <a:pt x="22760939" y="0"/>
                  </a:lnTo>
                  <a:lnTo>
                    <a:pt x="22760939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532018" r="0" b="-53201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2760940" cy="771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00000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Model Explainability — LIME &amp; Feature Importance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42988" y="2071688"/>
            <a:ext cx="11172825" cy="3314700"/>
            <a:chOff x="0" y="0"/>
            <a:chExt cx="14897100" cy="441960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4897100" cy="4419600"/>
            </a:xfrm>
            <a:custGeom>
              <a:avLst/>
              <a:gdLst/>
              <a:ahLst/>
              <a:cxnLst/>
              <a:rect r="r" b="b" t="t" l="l"/>
              <a:pathLst>
                <a:path h="4419600" w="14897100">
                  <a:moveTo>
                    <a:pt x="0" y="0"/>
                  </a:moveTo>
                  <a:lnTo>
                    <a:pt x="14897100" y="0"/>
                  </a:lnTo>
                  <a:lnTo>
                    <a:pt x="14897100" y="4419600"/>
                  </a:lnTo>
                  <a:lnTo>
                    <a:pt x="0" y="441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42988" y="5786438"/>
            <a:ext cx="11172825" cy="2671762"/>
            <a:chOff x="0" y="0"/>
            <a:chExt cx="14897100" cy="356235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14897100" cy="3562350"/>
            </a:xfrm>
            <a:custGeom>
              <a:avLst/>
              <a:gdLst/>
              <a:ahLst/>
              <a:cxnLst/>
              <a:rect r="r" b="b" t="t" l="l"/>
              <a:pathLst>
                <a:path h="3562350" w="14897100">
                  <a:moveTo>
                    <a:pt x="0" y="0"/>
                  </a:moveTo>
                  <a:lnTo>
                    <a:pt x="14897100" y="0"/>
                  </a:lnTo>
                  <a:lnTo>
                    <a:pt x="14897100" y="3562350"/>
                  </a:lnTo>
                  <a:lnTo>
                    <a:pt x="0" y="3562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858750" y="3275409"/>
            <a:ext cx="4754880" cy="400050"/>
            <a:chOff x="0" y="0"/>
            <a:chExt cx="6339840" cy="533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39840" cy="533400"/>
            </a:xfrm>
            <a:custGeom>
              <a:avLst/>
              <a:gdLst/>
              <a:ahLst/>
              <a:cxnLst/>
              <a:rect r="r" b="b" t="t" l="l"/>
              <a:pathLst>
                <a:path h="5334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181593" r="0" b="-18159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633984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DA775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Linguistic Signals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858750" y="3961209"/>
            <a:ext cx="4754880" cy="287232"/>
            <a:chOff x="0" y="0"/>
            <a:chExt cx="6339840" cy="3829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39840" cy="382976"/>
            </a:xfrm>
            <a:custGeom>
              <a:avLst/>
              <a:gdLst/>
              <a:ahLst/>
              <a:cxnLst/>
              <a:rect r="r" b="b" t="t" l="l"/>
              <a:pathLst>
                <a:path h="382976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382976"/>
                  </a:lnTo>
                  <a:lnTo>
                    <a:pt x="0" y="382976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272816" r="0" b="-27230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6339840" cy="382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9"/>
                </a:lnSpc>
              </a:pPr>
              <a:r>
                <a:rPr lang="en-US" sz="1549" b="true">
                  <a:solidFill>
                    <a:srgbClr val="66666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Influential Words (LIME)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087350" y="4361259"/>
            <a:ext cx="3566160" cy="357621"/>
            <a:chOff x="0" y="0"/>
            <a:chExt cx="4754880" cy="47682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754880" cy="476829"/>
            </a:xfrm>
            <a:custGeom>
              <a:avLst/>
              <a:gdLst/>
              <a:ahLst/>
              <a:cxnLst/>
              <a:rect r="r" b="b" t="t" l="l"/>
              <a:pathLst>
                <a:path h="476829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476829"/>
                  </a:lnTo>
                  <a:lnTo>
                    <a:pt x="0" y="476829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144862" r="0" b="-14374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4754880" cy="4768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333333"/>
                  </a:solidFill>
                  <a:latin typeface="Georgia"/>
                  <a:ea typeface="Georgia"/>
                  <a:cs typeface="Georgia"/>
                  <a:sym typeface="Georgia"/>
                </a:rPr>
                <a:t>“will”, “wall”, “Mexico”, “border”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858750" y="5000625"/>
            <a:ext cx="4754880" cy="310065"/>
            <a:chOff x="0" y="0"/>
            <a:chExt cx="6339840" cy="41341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339840" cy="413419"/>
            </a:xfrm>
            <a:custGeom>
              <a:avLst/>
              <a:gdLst/>
              <a:ahLst/>
              <a:cxnLst/>
              <a:rect r="r" b="b" t="t" l="l"/>
              <a:pathLst>
                <a:path h="413419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413419"/>
                  </a:lnTo>
                  <a:lnTo>
                    <a:pt x="0" y="413419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252726" r="0" b="-24488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6339840" cy="4134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 b="true">
                  <a:solidFill>
                    <a:srgbClr val="66666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REAL Indicators (LR)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087350" y="5400675"/>
            <a:ext cx="3462147" cy="357621"/>
            <a:chOff x="0" y="0"/>
            <a:chExt cx="4616196" cy="47682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616196" cy="476829"/>
            </a:xfrm>
            <a:custGeom>
              <a:avLst/>
              <a:gdLst/>
              <a:ahLst/>
              <a:cxnLst/>
              <a:rect r="r" b="b" t="t" l="l"/>
              <a:pathLst>
                <a:path h="476829" w="4616196">
                  <a:moveTo>
                    <a:pt x="0" y="0"/>
                  </a:moveTo>
                  <a:lnTo>
                    <a:pt x="4616196" y="0"/>
                  </a:lnTo>
                  <a:lnTo>
                    <a:pt x="4616196" y="476829"/>
                  </a:lnTo>
                  <a:lnTo>
                    <a:pt x="0" y="476829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139195" r="0" b="-13807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616196" cy="4768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333333"/>
                  </a:solidFill>
                  <a:latin typeface="Georgia"/>
                  <a:ea typeface="Georgia"/>
                  <a:cs typeface="Georgia"/>
                  <a:sym typeface="Georgia"/>
                </a:rPr>
                <a:t>“since”, “still”, “debt”, “percent”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201650" y="6454378"/>
            <a:ext cx="4398264" cy="800100"/>
            <a:chOff x="0" y="0"/>
            <a:chExt cx="5864352" cy="1066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864352" cy="1066800"/>
            </a:xfrm>
            <a:custGeom>
              <a:avLst/>
              <a:gdLst/>
              <a:ahLst/>
              <a:cxnLst/>
              <a:rect r="r" b="b" t="t" l="l"/>
              <a:pathLst>
                <a:path h="1066800" w="5864352">
                  <a:moveTo>
                    <a:pt x="0" y="0"/>
                  </a:moveTo>
                  <a:lnTo>
                    <a:pt x="5864352" y="0"/>
                  </a:lnTo>
                  <a:lnTo>
                    <a:pt x="5864352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57112" r="0" b="-5711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5864352" cy="1076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A775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Suggests reliance on topic-specific political language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42962" y="1585912"/>
            <a:ext cx="942975" cy="57150"/>
            <a:chOff x="0" y="0"/>
            <a:chExt cx="1257300" cy="762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257300" cy="76200"/>
            </a:xfrm>
            <a:custGeom>
              <a:avLst/>
              <a:gdLst/>
              <a:ahLst/>
              <a:cxnLst/>
              <a:rect r="r" b="b" t="t" l="l"/>
              <a:pathLst>
                <a:path h="76200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0100" y="2043112"/>
            <a:ext cx="9658350" cy="6457950"/>
            <a:chOff x="0" y="0"/>
            <a:chExt cx="12877800" cy="86106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2877800" cy="8610600"/>
            </a:xfrm>
            <a:custGeom>
              <a:avLst/>
              <a:gdLst/>
              <a:ahLst/>
              <a:cxnLst/>
              <a:rect r="r" b="b" t="t" l="l"/>
              <a:pathLst>
                <a:path h="8610600" w="12877800">
                  <a:moveTo>
                    <a:pt x="0" y="0"/>
                  </a:moveTo>
                  <a:lnTo>
                    <a:pt x="12877800" y="0"/>
                  </a:lnTo>
                  <a:lnTo>
                    <a:pt x="12877800" y="8610600"/>
                  </a:lnTo>
                  <a:lnTo>
                    <a:pt x="0" y="861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058525" y="3500438"/>
            <a:ext cx="157162" cy="157162"/>
            <a:chOff x="0" y="0"/>
            <a:chExt cx="209550" cy="20955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209550" cy="209550"/>
            </a:xfrm>
            <a:custGeom>
              <a:avLst/>
              <a:gdLst/>
              <a:ahLst/>
              <a:cxnLst/>
              <a:rect r="r" b="b" t="t" l="l"/>
              <a:pathLst>
                <a:path h="2095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058525" y="4200525"/>
            <a:ext cx="157162" cy="157162"/>
            <a:chOff x="0" y="0"/>
            <a:chExt cx="209550" cy="20955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209550" cy="209550"/>
            </a:xfrm>
            <a:custGeom>
              <a:avLst/>
              <a:gdLst/>
              <a:ahLst/>
              <a:cxnLst/>
              <a:rect r="r" b="b" t="t" l="l"/>
              <a:pathLst>
                <a:path h="2095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058525" y="5357812"/>
            <a:ext cx="157162" cy="157162"/>
            <a:chOff x="0" y="0"/>
            <a:chExt cx="209550" cy="20955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09550" cy="209550"/>
            </a:xfrm>
            <a:custGeom>
              <a:avLst/>
              <a:gdLst/>
              <a:ahLst/>
              <a:cxnLst/>
              <a:rect r="r" b="b" t="t" l="l"/>
              <a:pathLst>
                <a:path h="2095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058525" y="6629400"/>
            <a:ext cx="6386512" cy="1200150"/>
            <a:chOff x="0" y="0"/>
            <a:chExt cx="8515350" cy="160020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8515350" cy="1600200"/>
            </a:xfrm>
            <a:custGeom>
              <a:avLst/>
              <a:gdLst/>
              <a:ahLst/>
              <a:cxnLst/>
              <a:rect r="r" b="b" t="t" l="l"/>
              <a:pathLst>
                <a:path h="1600200" w="8515350">
                  <a:moveTo>
                    <a:pt x="0" y="0"/>
                  </a:moveTo>
                  <a:lnTo>
                    <a:pt x="8515350" y="0"/>
                  </a:lnTo>
                  <a:lnTo>
                    <a:pt x="8515350" y="1600200"/>
                  </a:lnTo>
                  <a:lnTo>
                    <a:pt x="0" y="160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444288" y="7029450"/>
            <a:ext cx="5700712" cy="757238"/>
            <a:chOff x="0" y="0"/>
            <a:chExt cx="7600950" cy="100965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7600950" cy="1009650"/>
            </a:xfrm>
            <a:custGeom>
              <a:avLst/>
              <a:gdLst/>
              <a:ahLst/>
              <a:cxnLst/>
              <a:rect r="r" b="b" t="t" l="l"/>
              <a:pathLst>
                <a:path h="1009650" w="7600950">
                  <a:moveTo>
                    <a:pt x="0" y="0"/>
                  </a:moveTo>
                  <a:lnTo>
                    <a:pt x="7600950" y="0"/>
                  </a:lnTo>
                  <a:lnTo>
                    <a:pt x="7600950" y="1009650"/>
                  </a:lnTo>
                  <a:lnTo>
                    <a:pt x="0" y="100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57250" y="857250"/>
            <a:ext cx="17070705" cy="571500"/>
            <a:chOff x="0" y="0"/>
            <a:chExt cx="22760940" cy="762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760939" cy="762000"/>
            </a:xfrm>
            <a:custGeom>
              <a:avLst/>
              <a:gdLst/>
              <a:ahLst/>
              <a:cxnLst/>
              <a:rect r="r" b="b" t="t" l="l"/>
              <a:pathLst>
                <a:path h="762000" w="22760939">
                  <a:moveTo>
                    <a:pt x="0" y="0"/>
                  </a:moveTo>
                  <a:lnTo>
                    <a:pt x="22760939" y="0"/>
                  </a:lnTo>
                  <a:lnTo>
                    <a:pt x="22760939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32018" r="0" b="-53201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2760940" cy="771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00000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Cross-Domain Generalization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85850" y="2328862"/>
            <a:ext cx="9086850" cy="5472112"/>
            <a:chOff x="0" y="0"/>
            <a:chExt cx="12115800" cy="729615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2115800" cy="7296150"/>
            </a:xfrm>
            <a:custGeom>
              <a:avLst/>
              <a:gdLst/>
              <a:ahLst/>
              <a:cxnLst/>
              <a:rect r="r" b="b" t="t" l="l"/>
              <a:pathLst>
                <a:path h="7296150" w="12115800">
                  <a:moveTo>
                    <a:pt x="0" y="0"/>
                  </a:moveTo>
                  <a:lnTo>
                    <a:pt x="12115800" y="0"/>
                  </a:lnTo>
                  <a:lnTo>
                    <a:pt x="12115800" y="7296150"/>
                  </a:lnTo>
                  <a:lnTo>
                    <a:pt x="0" y="7296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00138" y="7893844"/>
            <a:ext cx="9408766" cy="285750"/>
            <a:chOff x="0" y="0"/>
            <a:chExt cx="12545022" cy="381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545020" cy="381000"/>
            </a:xfrm>
            <a:custGeom>
              <a:avLst/>
              <a:gdLst/>
              <a:ahLst/>
              <a:cxnLst/>
              <a:rect r="r" b="b" t="t" l="l"/>
              <a:pathLst>
                <a:path h="381000" w="12545020">
                  <a:moveTo>
                    <a:pt x="0" y="0"/>
                  </a:moveTo>
                  <a:lnTo>
                    <a:pt x="12545020" y="0"/>
                  </a:lnTo>
                  <a:lnTo>
                    <a:pt x="1254502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91575" r="0" b="-59157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2545022" cy="400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i="true">
                  <a:solidFill>
                    <a:srgbClr val="999999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Accuracy Comparison across different news subjects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075718" y="2725341"/>
            <a:ext cx="6609236" cy="457200"/>
            <a:chOff x="0" y="0"/>
            <a:chExt cx="8812314" cy="609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812316" cy="609600"/>
            </a:xfrm>
            <a:custGeom>
              <a:avLst/>
              <a:gdLst/>
              <a:ahLst/>
              <a:cxnLst/>
              <a:rect r="r" b="b" t="t" l="l"/>
              <a:pathLst>
                <a:path h="609600" w="8812316">
                  <a:moveTo>
                    <a:pt x="0" y="0"/>
                  </a:moveTo>
                  <a:lnTo>
                    <a:pt x="8812316" y="0"/>
                  </a:lnTo>
                  <a:lnTo>
                    <a:pt x="8812316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31673" r="0" b="-23167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8812314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DA775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Key Observations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361468" y="3411141"/>
            <a:ext cx="6003036" cy="464344"/>
            <a:chOff x="0" y="0"/>
            <a:chExt cx="8004048" cy="61912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004048" cy="619126"/>
            </a:xfrm>
            <a:custGeom>
              <a:avLst/>
              <a:gdLst/>
              <a:ahLst/>
              <a:cxnLst/>
              <a:rect r="r" b="b" t="t" l="l"/>
              <a:pathLst>
                <a:path h="619126" w="8004048">
                  <a:moveTo>
                    <a:pt x="0" y="0"/>
                  </a:moveTo>
                  <a:lnTo>
                    <a:pt x="8004048" y="0"/>
                  </a:lnTo>
                  <a:lnTo>
                    <a:pt x="8004048" y="619126"/>
                  </a:lnTo>
                  <a:lnTo>
                    <a:pt x="0" y="61912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01902" r="0" b="-20190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8004048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Georgia"/>
                  <a:ea typeface="Georgia"/>
                  <a:cs typeface="Georgia"/>
                  <a:sym typeface="Georgia"/>
                </a:rPr>
                <a:t>LR consistently outperforms BERT across domains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361468" y="4104084"/>
            <a:ext cx="6312056" cy="928688"/>
            <a:chOff x="0" y="0"/>
            <a:chExt cx="8416074" cy="12382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416076" cy="1238250"/>
            </a:xfrm>
            <a:custGeom>
              <a:avLst/>
              <a:gdLst/>
              <a:ahLst/>
              <a:cxnLst/>
              <a:rect r="r" b="b" t="t" l="l"/>
              <a:pathLst>
                <a:path h="1238250" w="8416076">
                  <a:moveTo>
                    <a:pt x="0" y="0"/>
                  </a:moveTo>
                  <a:lnTo>
                    <a:pt x="8416076" y="0"/>
                  </a:lnTo>
                  <a:lnTo>
                    <a:pt x="8416076" y="1238250"/>
                  </a:lnTo>
                  <a:lnTo>
                    <a:pt x="0" y="123825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82434" r="0" b="-8243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8416074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Georgia"/>
                  <a:ea typeface="Georgia"/>
                  <a:cs typeface="Georgia"/>
                  <a:sym typeface="Georgia"/>
                </a:rPr>
                <a:t>LR shows better generalization in specific subjects like foreign-policy and federal-budget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361468" y="5261372"/>
            <a:ext cx="6312056" cy="928688"/>
            <a:chOff x="0" y="0"/>
            <a:chExt cx="8416074" cy="12382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416076" cy="1238250"/>
            </a:xfrm>
            <a:custGeom>
              <a:avLst/>
              <a:gdLst/>
              <a:ahLst/>
              <a:cxnLst/>
              <a:rect r="r" b="b" t="t" l="l"/>
              <a:pathLst>
                <a:path h="1238250" w="8416076">
                  <a:moveTo>
                    <a:pt x="0" y="0"/>
                  </a:moveTo>
                  <a:lnTo>
                    <a:pt x="8416076" y="0"/>
                  </a:lnTo>
                  <a:lnTo>
                    <a:pt x="8416076" y="1238250"/>
                  </a:lnTo>
                  <a:lnTo>
                    <a:pt x="0" y="123825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82434" r="0" b="-8243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8416074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Georgia"/>
                  <a:ea typeface="Georgia"/>
                  <a:cs typeface="Georgia"/>
                  <a:sym typeface="Georgia"/>
                </a:rPr>
                <a:t>BERT exhibits higher variance and potential overfitting to training domain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058525" y="7243762"/>
            <a:ext cx="257175" cy="328612"/>
            <a:chOff x="0" y="0"/>
            <a:chExt cx="342900" cy="43815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342900" cy="438150"/>
            </a:xfrm>
            <a:custGeom>
              <a:avLst/>
              <a:gdLst/>
              <a:ahLst/>
              <a:cxnLst/>
              <a:rect r="r" b="b" t="t" l="l"/>
              <a:pathLst>
                <a:path h="4381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461480" y="7115436"/>
            <a:ext cx="6466475" cy="921283"/>
            <a:chOff x="0" y="0"/>
            <a:chExt cx="8277390" cy="117928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277392" cy="1179285"/>
            </a:xfrm>
            <a:custGeom>
              <a:avLst/>
              <a:gdLst/>
              <a:ahLst/>
              <a:cxnLst/>
              <a:rect r="r" b="b" t="t" l="l"/>
              <a:pathLst>
                <a:path h="1179285" w="8277392">
                  <a:moveTo>
                    <a:pt x="0" y="0"/>
                  </a:moveTo>
                  <a:lnTo>
                    <a:pt x="8277392" y="0"/>
                  </a:lnTo>
                  <a:lnTo>
                    <a:pt x="8277392" y="1179285"/>
                  </a:lnTo>
                  <a:lnTo>
                    <a:pt x="0" y="117928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91534" r="0" b="-8199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8277390" cy="1198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DA7756"/>
                  </a:solidFill>
                  <a:latin typeface="Georgia"/>
                  <a:ea typeface="Georgia"/>
                  <a:cs typeface="Georgia"/>
                  <a:sym typeface="Georgia"/>
                </a:rPr>
                <a:t>Simpler models with strong features generalize better on this dataset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42962" y="1585912"/>
            <a:ext cx="942975" cy="57150"/>
            <a:chOff x="0" y="0"/>
            <a:chExt cx="1257300" cy="762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257300" cy="76200"/>
            </a:xfrm>
            <a:custGeom>
              <a:avLst/>
              <a:gdLst/>
              <a:ahLst/>
              <a:cxnLst/>
              <a:rect r="r" b="b" t="t" l="l"/>
              <a:pathLst>
                <a:path h="76200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85962" y="2357438"/>
            <a:ext cx="142875" cy="157162"/>
            <a:chOff x="0" y="0"/>
            <a:chExt cx="190500" cy="20955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90500" cy="209550"/>
            </a:xfrm>
            <a:custGeom>
              <a:avLst/>
              <a:gdLst/>
              <a:ahLst/>
              <a:cxnLst/>
              <a:rect r="r" b="b" t="t" l="l"/>
              <a:pathLst>
                <a:path h="2095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985962" y="3043238"/>
            <a:ext cx="142875" cy="157162"/>
            <a:chOff x="0" y="0"/>
            <a:chExt cx="190500" cy="20955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90500" cy="209550"/>
            </a:xfrm>
            <a:custGeom>
              <a:avLst/>
              <a:gdLst/>
              <a:ahLst/>
              <a:cxnLst/>
              <a:rect r="r" b="b" t="t" l="l"/>
              <a:pathLst>
                <a:path h="2095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985962" y="3743325"/>
            <a:ext cx="142875" cy="157162"/>
            <a:chOff x="0" y="0"/>
            <a:chExt cx="190500" cy="20955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90500" cy="209550"/>
            </a:xfrm>
            <a:custGeom>
              <a:avLst/>
              <a:gdLst/>
              <a:ahLst/>
              <a:cxnLst/>
              <a:rect r="r" b="b" t="t" l="l"/>
              <a:pathLst>
                <a:path h="2095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985962" y="4429125"/>
            <a:ext cx="142875" cy="157162"/>
            <a:chOff x="0" y="0"/>
            <a:chExt cx="190500" cy="20955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90500" cy="209550"/>
            </a:xfrm>
            <a:custGeom>
              <a:avLst/>
              <a:gdLst/>
              <a:ahLst/>
              <a:cxnLst/>
              <a:rect r="r" b="b" t="t" l="l"/>
              <a:pathLst>
                <a:path h="2095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85962" y="5129212"/>
            <a:ext cx="142875" cy="157162"/>
            <a:chOff x="0" y="0"/>
            <a:chExt cx="190500" cy="20955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90500" cy="209550"/>
            </a:xfrm>
            <a:custGeom>
              <a:avLst/>
              <a:gdLst/>
              <a:ahLst/>
              <a:cxnLst/>
              <a:rect r="r" b="b" t="t" l="l"/>
              <a:pathLst>
                <a:path h="2095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985962" y="7600950"/>
            <a:ext cx="14316075" cy="685800"/>
            <a:chOff x="0" y="0"/>
            <a:chExt cx="19088100" cy="91440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19088100" cy="914400"/>
            </a:xfrm>
            <a:custGeom>
              <a:avLst/>
              <a:gdLst/>
              <a:ahLst/>
              <a:cxnLst/>
              <a:rect r="r" b="b" t="t" l="l"/>
              <a:pathLst>
                <a:path h="914400" w="19088100">
                  <a:moveTo>
                    <a:pt x="0" y="0"/>
                  </a:moveTo>
                  <a:lnTo>
                    <a:pt x="19088100" y="0"/>
                  </a:lnTo>
                  <a:lnTo>
                    <a:pt x="190881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500312" y="7886700"/>
            <a:ext cx="8758238" cy="357188"/>
            <a:chOff x="0" y="0"/>
            <a:chExt cx="11677650" cy="47625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11677650" cy="476250"/>
            </a:xfrm>
            <a:custGeom>
              <a:avLst/>
              <a:gdLst/>
              <a:ahLst/>
              <a:cxnLst/>
              <a:rect r="r" b="b" t="t" l="l"/>
              <a:pathLst>
                <a:path h="476250" w="11677650">
                  <a:moveTo>
                    <a:pt x="0" y="0"/>
                  </a:moveTo>
                  <a:lnTo>
                    <a:pt x="11677650" y="0"/>
                  </a:lnTo>
                  <a:lnTo>
                    <a:pt x="11677650" y="476250"/>
                  </a:lnTo>
                  <a:lnTo>
                    <a:pt x="0" y="47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57250" y="857250"/>
            <a:ext cx="17070705" cy="571500"/>
            <a:chOff x="0" y="0"/>
            <a:chExt cx="22760940" cy="762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760939" cy="762000"/>
            </a:xfrm>
            <a:custGeom>
              <a:avLst/>
              <a:gdLst/>
              <a:ahLst/>
              <a:cxnLst/>
              <a:rect r="r" b="b" t="t" l="l"/>
              <a:pathLst>
                <a:path h="762000" w="22760939">
                  <a:moveTo>
                    <a:pt x="0" y="0"/>
                  </a:moveTo>
                  <a:lnTo>
                    <a:pt x="22760939" y="0"/>
                  </a:lnTo>
                  <a:lnTo>
                    <a:pt x="22760939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532018" r="0" b="-53201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2760940" cy="771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00000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Key Findings &amp; Conclusion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400300" y="2260997"/>
            <a:ext cx="7280910" cy="464344"/>
            <a:chOff x="0" y="0"/>
            <a:chExt cx="9707880" cy="61912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07880" cy="619126"/>
            </a:xfrm>
            <a:custGeom>
              <a:avLst/>
              <a:gdLst/>
              <a:ahLst/>
              <a:cxnLst/>
              <a:rect r="r" b="b" t="t" l="l"/>
              <a:pathLst>
                <a:path h="619126" w="9707880">
                  <a:moveTo>
                    <a:pt x="0" y="0"/>
                  </a:moveTo>
                  <a:lnTo>
                    <a:pt x="9707880" y="0"/>
                  </a:lnTo>
                  <a:lnTo>
                    <a:pt x="9707880" y="619126"/>
                  </a:lnTo>
                  <a:lnTo>
                    <a:pt x="0" y="61912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55524" r="0" b="-25552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970788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Georgia"/>
                  <a:ea typeface="Georgia"/>
                  <a:cs typeface="Georgia"/>
                  <a:sym typeface="Georgia"/>
                </a:rPr>
                <a:t>Gradient Boosting achieved best performance (small margin)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400300" y="2953941"/>
            <a:ext cx="6760845" cy="464344"/>
            <a:chOff x="0" y="0"/>
            <a:chExt cx="9014460" cy="6191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014460" cy="619126"/>
            </a:xfrm>
            <a:custGeom>
              <a:avLst/>
              <a:gdLst/>
              <a:ahLst/>
              <a:cxnLst/>
              <a:rect r="r" b="b" t="t" l="l"/>
              <a:pathLst>
                <a:path h="619126" w="9014460">
                  <a:moveTo>
                    <a:pt x="0" y="0"/>
                  </a:moveTo>
                  <a:lnTo>
                    <a:pt x="9014460" y="0"/>
                  </a:lnTo>
                  <a:lnTo>
                    <a:pt x="9014460" y="619126"/>
                  </a:lnTo>
                  <a:lnTo>
                    <a:pt x="0" y="61912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33701" r="0" b="-23370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901446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Georgia"/>
                  <a:ea typeface="Georgia"/>
                  <a:cs typeface="Georgia"/>
                  <a:sym typeface="Georgia"/>
                </a:rPr>
                <a:t>Traditional ML outperformed DistilBERT for this dataset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400300" y="3577089"/>
            <a:ext cx="7828342" cy="534139"/>
            <a:chOff x="0" y="0"/>
            <a:chExt cx="9073896" cy="61912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073896" cy="619126"/>
            </a:xfrm>
            <a:custGeom>
              <a:avLst/>
              <a:gdLst/>
              <a:ahLst/>
              <a:cxnLst/>
              <a:rect r="r" b="b" t="t" l="l"/>
              <a:pathLst>
                <a:path h="619126" w="9073896">
                  <a:moveTo>
                    <a:pt x="0" y="0"/>
                  </a:moveTo>
                  <a:lnTo>
                    <a:pt x="9073896" y="0"/>
                  </a:lnTo>
                  <a:lnTo>
                    <a:pt x="9073896" y="619126"/>
                  </a:lnTo>
                  <a:lnTo>
                    <a:pt x="0" y="61912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35572" r="0" b="-23557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9073896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Georgia"/>
                  <a:ea typeface="Georgia"/>
                  <a:cs typeface="Georgia"/>
                  <a:sym typeface="Georgia"/>
                </a:rPr>
                <a:t>deception_ratio is the most important feature (per SHAP)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400300" y="4339828"/>
            <a:ext cx="6760845" cy="464344"/>
            <a:chOff x="0" y="0"/>
            <a:chExt cx="9014460" cy="61912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014460" cy="619126"/>
            </a:xfrm>
            <a:custGeom>
              <a:avLst/>
              <a:gdLst/>
              <a:ahLst/>
              <a:cxnLst/>
              <a:rect r="r" b="b" t="t" l="l"/>
              <a:pathLst>
                <a:path h="619126" w="9014460">
                  <a:moveTo>
                    <a:pt x="0" y="0"/>
                  </a:moveTo>
                  <a:lnTo>
                    <a:pt x="9014460" y="0"/>
                  </a:lnTo>
                  <a:lnTo>
                    <a:pt x="9014460" y="619126"/>
                  </a:lnTo>
                  <a:lnTo>
                    <a:pt x="0" y="61912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33701" r="0" b="-23370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901446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Georgia"/>
                  <a:ea typeface="Georgia"/>
                  <a:cs typeface="Georgia"/>
                  <a:sym typeface="Georgia"/>
                </a:rPr>
                <a:t>Political/economic topics dominate the vocabulary signal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400300" y="5032772"/>
            <a:ext cx="4472559" cy="464344"/>
            <a:chOff x="0" y="0"/>
            <a:chExt cx="5963412" cy="61912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963412" cy="619126"/>
            </a:xfrm>
            <a:custGeom>
              <a:avLst/>
              <a:gdLst/>
              <a:ahLst/>
              <a:cxnLst/>
              <a:rect r="r" b="b" t="t" l="l"/>
              <a:pathLst>
                <a:path h="619126" w="5963412">
                  <a:moveTo>
                    <a:pt x="0" y="0"/>
                  </a:moveTo>
                  <a:lnTo>
                    <a:pt x="5963412" y="0"/>
                  </a:lnTo>
                  <a:lnTo>
                    <a:pt x="5963412" y="619126"/>
                  </a:lnTo>
                  <a:lnTo>
                    <a:pt x="0" y="61912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37679" r="0" b="-13767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5963412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3333"/>
                  </a:solidFill>
                  <a:latin typeface="Georgia"/>
                  <a:ea typeface="Georgia"/>
                  <a:cs typeface="Georgia"/>
                  <a:sym typeface="Georgia"/>
                </a:rPr>
                <a:t>Linguistic features improve detection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985962" y="6084689"/>
            <a:ext cx="14205204" cy="928688"/>
            <a:chOff x="0" y="0"/>
            <a:chExt cx="18940272" cy="12382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8940272" cy="1238250"/>
            </a:xfrm>
            <a:custGeom>
              <a:avLst/>
              <a:gdLst/>
              <a:ahLst/>
              <a:cxnLst/>
              <a:rect r="r" b="b" t="t" l="l"/>
              <a:pathLst>
                <a:path h="1238250" w="18940272">
                  <a:moveTo>
                    <a:pt x="0" y="0"/>
                  </a:moveTo>
                  <a:lnTo>
                    <a:pt x="18940272" y="0"/>
                  </a:lnTo>
                  <a:lnTo>
                    <a:pt x="18940272" y="1238250"/>
                  </a:lnTo>
                  <a:lnTo>
                    <a:pt x="0" y="12382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48043" r="0" b="-24804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18940272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i="true">
                  <a:solidFill>
                    <a:srgbClr val="000000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Implication:</a:t>
              </a:r>
              <a:r>
                <a:rPr lang="en-US" sz="2100" i="true">
                  <a:solidFill>
                    <a:srgbClr val="000000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 Simpler models + strong features can beat complex models on domain-specific data. Traditional ML can be highly effective for domain-specific datasets.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985962" y="7900988"/>
            <a:ext cx="314325" cy="328612"/>
            <a:chOff x="0" y="0"/>
            <a:chExt cx="419100" cy="438150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2514600" y="7798186"/>
            <a:ext cx="10682308" cy="488564"/>
            <a:chOff x="0" y="0"/>
            <a:chExt cx="12105132" cy="55363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105132" cy="553638"/>
            </a:xfrm>
            <a:custGeom>
              <a:avLst/>
              <a:gdLst/>
              <a:ahLst/>
              <a:cxnLst/>
              <a:rect r="r" b="b" t="t" l="l"/>
              <a:pathLst>
                <a:path h="553638" w="12105132">
                  <a:moveTo>
                    <a:pt x="0" y="0"/>
                  </a:moveTo>
                  <a:lnTo>
                    <a:pt x="12105132" y="0"/>
                  </a:lnTo>
                  <a:lnTo>
                    <a:pt x="12105132" y="553638"/>
                  </a:lnTo>
                  <a:lnTo>
                    <a:pt x="0" y="55363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2105132" cy="563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System can be used in real-world applications (with monitoring for bias)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28588" y="0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48218" y="1644264"/>
            <a:ext cx="15069312" cy="749491"/>
            <a:chOff x="0" y="0"/>
            <a:chExt cx="20092416" cy="9993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092415" cy="999322"/>
            </a:xfrm>
            <a:custGeom>
              <a:avLst/>
              <a:gdLst/>
              <a:ahLst/>
              <a:cxnLst/>
              <a:rect r="r" b="b" t="t" l="l"/>
              <a:pathLst>
                <a:path h="999322" w="20092415">
                  <a:moveTo>
                    <a:pt x="0" y="0"/>
                  </a:moveTo>
                  <a:lnTo>
                    <a:pt x="20092415" y="0"/>
                  </a:lnTo>
                  <a:lnTo>
                    <a:pt x="20092415" y="999322"/>
                  </a:lnTo>
                  <a:lnTo>
                    <a:pt x="0" y="9993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7453" r="0" b="-32608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092416" cy="10088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39"/>
                </a:lnSpc>
              </a:pPr>
              <a:r>
                <a:rPr lang="en-US" sz="3949" b="true">
                  <a:solidFill>
                    <a:srgbClr val="DA775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Future Work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59798" y="2997571"/>
            <a:ext cx="10331011" cy="3875240"/>
            <a:chOff x="0" y="0"/>
            <a:chExt cx="13774681" cy="516698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774682" cy="5166986"/>
            </a:xfrm>
            <a:custGeom>
              <a:avLst/>
              <a:gdLst/>
              <a:ahLst/>
              <a:cxnLst/>
              <a:rect r="r" b="b" t="t" l="l"/>
              <a:pathLst>
                <a:path h="5166986" w="13774682">
                  <a:moveTo>
                    <a:pt x="0" y="0"/>
                  </a:moveTo>
                  <a:lnTo>
                    <a:pt x="13774682" y="0"/>
                  </a:lnTo>
                  <a:lnTo>
                    <a:pt x="13774682" y="5166986"/>
                  </a:lnTo>
                  <a:lnTo>
                    <a:pt x="0" y="516698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584" r="53974" b="6576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3774681" cy="51669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755642" indent="-377821" lvl="1">
                <a:lnSpc>
                  <a:spcPts val="4199"/>
                </a:lnSpc>
                <a:buFont typeface="Arial"/>
                <a:buChar char="•"/>
              </a:pPr>
              <a:r>
                <a:rPr lang="en-US" sz="3499">
                  <a:solidFill>
                    <a:srgbClr val="666666"/>
                  </a:solidFill>
                  <a:latin typeface="Georgia"/>
                  <a:ea typeface="Georgia"/>
                  <a:cs typeface="Georgia"/>
                  <a:sym typeface="Georgia"/>
                </a:rPr>
                <a:t>Use larger datasets &amp; Real-time detection</a:t>
              </a:r>
            </a:p>
            <a:p>
              <a:pPr algn="l">
                <a:lnSpc>
                  <a:spcPts val="4199"/>
                </a:lnSpc>
              </a:pPr>
            </a:p>
            <a:p>
              <a:pPr algn="l" marL="755642" indent="-377821" lvl="1">
                <a:lnSpc>
                  <a:spcPts val="4199"/>
                </a:lnSpc>
                <a:buFont typeface="Arial"/>
                <a:buChar char="•"/>
              </a:pPr>
              <a:r>
                <a:rPr lang="en-US" sz="3499">
                  <a:solidFill>
                    <a:srgbClr val="666666"/>
                  </a:solidFill>
                  <a:latin typeface="Georgia"/>
                  <a:ea typeface="Georgia"/>
                  <a:cs typeface="Georgia"/>
                  <a:sym typeface="Georgia"/>
                </a:rPr>
                <a:t>Multilingual support &amp; Address bias</a:t>
              </a:r>
            </a:p>
            <a:p>
              <a:pPr algn="l">
                <a:lnSpc>
                  <a:spcPts val="4199"/>
                </a:lnSpc>
              </a:pPr>
            </a:p>
            <a:p>
              <a:pPr algn="l" marL="755642" indent="-377821" lvl="1">
                <a:lnSpc>
                  <a:spcPts val="4199"/>
                </a:lnSpc>
                <a:buFont typeface="Arial"/>
                <a:buChar char="•"/>
              </a:pPr>
              <a:r>
                <a:rPr lang="en-US" sz="3499">
                  <a:solidFill>
                    <a:srgbClr val="666666"/>
                  </a:solidFill>
                  <a:latin typeface="Georgia"/>
                  <a:ea typeface="Georgia"/>
                  <a:cs typeface="Georgia"/>
                  <a:sym typeface="Georgia"/>
                </a:rPr>
                <a:t>Improve transformer performance</a:t>
              </a:r>
            </a:p>
            <a:p>
              <a:pPr algn="l">
                <a:lnSpc>
                  <a:spcPts val="8399"/>
                </a:lnSpc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74721" y="3685789"/>
            <a:ext cx="8625811" cy="1938412"/>
            <a:chOff x="0" y="0"/>
            <a:chExt cx="11501081" cy="2584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01082" cy="2584549"/>
            </a:xfrm>
            <a:custGeom>
              <a:avLst/>
              <a:gdLst/>
              <a:ahLst/>
              <a:cxnLst/>
              <a:rect r="r" b="b" t="t" l="l"/>
              <a:pathLst>
                <a:path h="2584549" w="11501082">
                  <a:moveTo>
                    <a:pt x="0" y="0"/>
                  </a:moveTo>
                  <a:lnTo>
                    <a:pt x="11501082" y="0"/>
                  </a:lnTo>
                  <a:lnTo>
                    <a:pt x="11501082" y="2584549"/>
                  </a:lnTo>
                  <a:lnTo>
                    <a:pt x="0" y="258454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89" r="27492" b="17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501081" cy="25940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240"/>
                </a:lnSpc>
              </a:pPr>
              <a:r>
                <a:rPr lang="en-US" b="true" sz="10200">
                  <a:solidFill>
                    <a:srgbClr val="DA775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DAHGvMudiOE</dc:identifier>
  <dcterms:modified xsi:type="dcterms:W3CDTF">2011-08-01T06:04:30Z</dcterms:modified>
  <cp:revision>1</cp:revision>
  <dc:title>Fake News Detection NLP Classifiers.pptx</dc:title>
</cp:coreProperties>
</file>